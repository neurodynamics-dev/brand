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0" y="-4000500"/>
            <a:ext cx="9525000" cy="9525000"/>
          </a:xfrm>
          <a:prstGeom prst="ellipse">
            <a:avLst/>
          </a:prstGeom>
          <a:solidFill>
            <a:srgbClr val="CEDC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000500" y="4953000"/>
            <a:ext cx="11430000" cy="11430000"/>
          </a:xfrm>
          <a:prstGeom prst="ellipse">
            <a:avLst/>
          </a:prstGeom>
          <a:solidFill>
            <a:srgbClr val="00594F">
              <a:alpha val="5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047750"/>
            <a:ext cx="2453878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24409" y="1068735"/>
            <a:ext cx="352320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CEDC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5753919"/>
            <a:ext cx="14716125" cy="219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2"/>
              </a:lnSpc>
              <a:buNone/>
            </a:pPr>
            <a:r>
              <a:rPr lang="en-US" sz="8175" b="1" spc="-204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 e o plano para </a:t>
            </a:r>
            <a:pPr algn="l" indent="0" marL="0">
              <a:lnSpc>
                <a:spcPct val="95662"/>
              </a:lnSpc>
              <a:buNone/>
            </a:pPr>
            <a:r>
              <a:rPr lang="en-US" sz="8175" b="1" spc="-204" kern="0" dirty="0">
                <a:solidFill>
                  <a:srgbClr val="CEDC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2027</a:t>
            </a:r>
            <a:endParaRPr lang="en-US" sz="8175" dirty="0"/>
          </a:p>
        </p:txBody>
      </p:sp>
      <p:sp>
        <p:nvSpPr>
          <p:cNvPr id="7" name="Shape 4"/>
          <p:cNvSpPr/>
          <p:nvPr/>
        </p:nvSpPr>
        <p:spPr>
          <a:xfrm>
            <a:off x="1143000" y="8523015"/>
            <a:ext cx="16002000" cy="952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8799240"/>
            <a:ext cx="376755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 Ribeiro, diretora científica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053742" y="8799240"/>
            <a:ext cx="216745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Outubro de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-91285" t="0" b="0"/>
          <a:stretch/>
        </p:blipFill>
        <p:spPr>
          <a:xfrm>
            <a:off x="1143000" y="1047750"/>
            <a:ext cx="16002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7108031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CEDC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RELATÓRIO AO CONSELHO, 10.2026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7713762"/>
            <a:ext cx="12753975" cy="1563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04"/>
              </a:lnSpc>
              <a:buNone/>
            </a:pPr>
            <a:r>
              <a:rPr lang="en-US" sz="5775" b="1" spc="-144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 e o plano para 2027</a:t>
            </a:r>
            <a:endParaRPr lang="en-US" sz="57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00" y="-4000500"/>
            <a:ext cx="9525000" cy="9525000"/>
          </a:xfrm>
          <a:prstGeom prst="ellipse">
            <a:avLst/>
          </a:prstGeom>
          <a:solidFill>
            <a:srgbClr val="CEDC0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58500" y="4953000"/>
            <a:ext cx="11430000" cy="11430000"/>
          </a:xfrm>
          <a:prstGeom prst="ellipse">
            <a:avLst/>
          </a:prstGeom>
          <a:solidFill>
            <a:srgbClr val="00594F">
              <a:alpha val="5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047750"/>
            <a:ext cx="2453878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638354"/>
            <a:ext cx="137350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9AA5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6282184"/>
            <a:ext cx="13735050" cy="2256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75"/>
              </a:lnSpc>
              <a:buNone/>
            </a:pPr>
            <a:r>
              <a:rPr lang="en-US" sz="8400" b="1" spc="-21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 e o plano para 2027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1143000" y="8767763"/>
            <a:ext cx="137350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16"/>
              </a:lnSpc>
              <a:buNone/>
            </a:pPr>
            <a:r>
              <a:rPr lang="en-US" sz="2250" dirty="0">
                <a:solidFill>
                  <a:srgbClr val="9AA5A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 Ribeiro, diretora científica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10500" cy="10287000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421192"/>
            <a:ext cx="484091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Imagem de capa, enquadramento vertical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858250" y="1047750"/>
            <a:ext cx="2286000" cy="3810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5" name="Text 3"/>
          <p:cNvSpPr/>
          <p:nvPr/>
        </p:nvSpPr>
        <p:spPr>
          <a:xfrm>
            <a:off x="8858250" y="6498282"/>
            <a:ext cx="86334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41"/>
              </a:lnSpc>
              <a:buNone/>
            </a:pPr>
            <a:r>
              <a:rPr lang="en-US" sz="7200" b="1" spc="-180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 e o plano para 2027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858250" y="8704957"/>
            <a:ext cx="8633460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Síntese para deliberação, outubro de 2026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OUTUBRO DE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5849764"/>
            <a:ext cx="17602200" cy="2150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34"/>
              </a:lnSpc>
              <a:buNone/>
            </a:pPr>
            <a:r>
              <a:rPr lang="en-US" sz="19800" b="1" spc="-792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Fase II</a:t>
            </a:r>
            <a:endParaRPr lang="en-US" sz="19800" dirty="0"/>
          </a:p>
        </p:txBody>
      </p:sp>
      <p:sp>
        <p:nvSpPr>
          <p:cNvPr id="4" name="Shape 2"/>
          <p:cNvSpPr/>
          <p:nvPr/>
        </p:nvSpPr>
        <p:spPr>
          <a:xfrm>
            <a:off x="1143000" y="8495407"/>
            <a:ext cx="160020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8781157"/>
            <a:ext cx="5166062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14"/>
              </a:lnSpc>
              <a:buNone/>
            </a:pPr>
            <a:r>
              <a:rPr lang="en-US" sz="2775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e plano para 2027</a:t>
            </a:r>
            <a:endParaRPr lang="en-US" sz="2775" dirty="0"/>
          </a:p>
        </p:txBody>
      </p:sp>
      <p:sp>
        <p:nvSpPr>
          <p:cNvPr id="6" name="Shape 4"/>
          <p:cNvSpPr/>
          <p:nvPr/>
        </p:nvSpPr>
        <p:spPr>
          <a:xfrm>
            <a:off x="15049500" y="8896350"/>
            <a:ext cx="2095500" cy="342900"/>
          </a:xfrm>
          <a:prstGeom prst="rect">
            <a:avLst/>
          </a:prstGeom>
          <a:solidFill>
            <a:srgbClr val="00352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47750"/>
            <a:ext cx="2286000" cy="381000"/>
          </a:xfrm>
          <a:prstGeom prst="rect">
            <a:avLst/>
          </a:prstGeom>
          <a:solidFill>
            <a:srgbClr val="0B4F48"/>
          </a:solidFill>
          <a:ln/>
        </p:spPr>
      </p:sp>
      <p:sp>
        <p:nvSpPr>
          <p:cNvPr id="3" name="Text 1"/>
          <p:cNvSpPr/>
          <p:nvPr/>
        </p:nvSpPr>
        <p:spPr>
          <a:xfrm>
            <a:off x="12365162" y="1049685"/>
            <a:ext cx="49232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PROGRAMA ION, DADOS CLÍNICOS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7337375"/>
            <a:ext cx="7770114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41"/>
              </a:lnSpc>
              <a:buNone/>
            </a:pPr>
            <a:r>
              <a:rPr lang="en-US" sz="7200" b="1" spc="-180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Plataforma de dados da fase II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601200" y="7451452"/>
            <a:ext cx="7543800" cy="1787798"/>
          </a:xfrm>
          <a:prstGeom prst="roundRect">
            <a:avLst>
              <a:gd name="adj" fmla="val 4262"/>
            </a:avLst>
          </a:prstGeom>
          <a:solidFill>
            <a:srgbClr val="D9F7F2"/>
          </a:solidFill>
          <a:ln/>
        </p:spPr>
      </p:sp>
      <p:sp>
        <p:nvSpPr>
          <p:cNvPr id="6" name="Text 4"/>
          <p:cNvSpPr/>
          <p:nvPr/>
        </p:nvSpPr>
        <p:spPr>
          <a:xfrm>
            <a:off x="9982200" y="7832452"/>
            <a:ext cx="6985254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16"/>
              </a:lnSpc>
              <a:buNone/>
            </a:pPr>
            <a:r>
              <a:rPr lang="en-US" sz="2250" b="1" dirty="0">
                <a:solidFill>
                  <a:srgbClr val="0B4F4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Lançamento interno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82200" y="8418240"/>
            <a:ext cx="698525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0B4F4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Equipe de engenharia, outubro de 2026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47750"/>
            <a:ext cx="2286000" cy="3810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2494568" y="1049685"/>
            <a:ext cx="478994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142A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PRODUTO, REVISÃO TRIMESTRAL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6355854"/>
            <a:ext cx="14716125" cy="219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2"/>
              </a:lnSpc>
              <a:buNone/>
            </a:pPr>
            <a:r>
              <a:rPr lang="en-US" sz="8175" b="1" spc="-204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frentes avançaram, </a:t>
            </a:r>
            <a:pPr algn="l" indent="0" marL="0">
              <a:lnSpc>
                <a:spcPct val="95662"/>
              </a:lnSpc>
              <a:buNone/>
            </a:pPr>
            <a:r>
              <a:rPr lang="en-US" sz="8175" b="1" spc="-204" kern="0" dirty="0">
                <a:solidFill>
                  <a:srgbClr val="3456E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precisa de decisão</a:t>
            </a:r>
            <a:endParaRPr lang="en-US" sz="8175" dirty="0"/>
          </a:p>
        </p:txBody>
      </p:sp>
      <p:sp>
        <p:nvSpPr>
          <p:cNvPr id="5" name="Shape 3"/>
          <p:cNvSpPr/>
          <p:nvPr/>
        </p:nvSpPr>
        <p:spPr>
          <a:xfrm>
            <a:off x="1143000" y="9124950"/>
            <a:ext cx="2286000" cy="114300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6" name="Shape 4"/>
          <p:cNvSpPr/>
          <p:nvPr/>
        </p:nvSpPr>
        <p:spPr>
          <a:xfrm>
            <a:off x="3543300" y="9124950"/>
            <a:ext cx="1524000" cy="114300"/>
          </a:xfrm>
          <a:prstGeom prst="rect">
            <a:avLst/>
          </a:prstGeom>
          <a:solidFill>
            <a:srgbClr val="3456E3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0" y="9124950"/>
            <a:ext cx="952500" cy="114300"/>
          </a:xfrm>
          <a:prstGeom prst="rect">
            <a:avLst/>
          </a:prstGeom>
          <a:solidFill>
            <a:srgbClr val="A9B9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58674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66"/>
              </a:lnSpc>
              <a:buNone/>
            </a:pPr>
            <a:r>
              <a:rPr lang="en-US" sz="7200" b="1" spc="-180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171700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78"/>
              </a:lnSpc>
              <a:buNone/>
            </a:pPr>
            <a:r>
              <a:rPr lang="en-US" sz="22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Uma hora, quatro blocos e uma deliberação ao final.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620000" y="2243138"/>
            <a:ext cx="9525000" cy="9525"/>
          </a:xfrm>
          <a:prstGeom prst="rect">
            <a:avLst/>
          </a:prstGeom>
          <a:solidFill>
            <a:srgbClr val="0B4F4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0" y="2590800"/>
            <a:ext cx="1123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8667750" y="2538413"/>
            <a:ext cx="79617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94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Contexto e objetivos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397585" y="2700338"/>
            <a:ext cx="82361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min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620000" y="3452813"/>
            <a:ext cx="95250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0" y="3800475"/>
            <a:ext cx="1123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8667750" y="3748087"/>
            <a:ext cx="791880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94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355913" y="3910013"/>
            <a:ext cx="865287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 min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620000" y="4662488"/>
            <a:ext cx="95250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0" y="5010150"/>
            <a:ext cx="1123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8667750" y="4957763"/>
            <a:ext cx="798794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94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Riscos e mitigação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423035" y="5119688"/>
            <a:ext cx="79816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15 min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20000" y="7081838"/>
            <a:ext cx="9525000" cy="9525"/>
          </a:xfrm>
          <a:prstGeom prst="rect">
            <a:avLst/>
          </a:prstGeom>
          <a:solidFill>
            <a:srgbClr val="0B4F48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0" y="5872163"/>
            <a:ext cx="95250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0" y="6219825"/>
            <a:ext cx="1123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8667750" y="6167438"/>
            <a:ext cx="798794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94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Plano para 2027 e deliberação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23035" y="6329363"/>
            <a:ext cx="79816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15 min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443984"/>
            <a:ext cx="2042376" cy="2690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76"/>
              </a:lnSpc>
              <a:buNone/>
            </a:pPr>
            <a:r>
              <a:rPr lang="en-US" sz="26775" b="1" spc="-803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26775" dirty="0"/>
          </a:p>
        </p:txBody>
      </p:sp>
      <p:sp>
        <p:nvSpPr>
          <p:cNvPr id="3" name="Text 1"/>
          <p:cNvSpPr/>
          <p:nvPr/>
        </p:nvSpPr>
        <p:spPr>
          <a:xfrm>
            <a:off x="3609305" y="6153150"/>
            <a:ext cx="441046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37"/>
              </a:lnSpc>
              <a:buNone/>
            </a:pPr>
            <a:r>
              <a:rPr lang="en-US" sz="6750" b="1" spc="-169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</a:t>
            </a:r>
            <a:pPr algn="l" indent="0" marL="0">
              <a:lnSpc>
                <a:spcPct val="91837"/>
              </a:lnSpc>
              <a:buNone/>
            </a:pPr>
            <a:r>
              <a:rPr lang="en-US" sz="6750" b="1" spc="-169" kern="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fase II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443984"/>
            <a:ext cx="2042376" cy="2690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76"/>
              </a:lnSpc>
              <a:buNone/>
            </a:pPr>
            <a:r>
              <a:rPr lang="en-US" sz="26775" b="1" spc="-803" kern="0" dirty="0">
                <a:solidFill>
                  <a:srgbClr val="5BBF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26775" dirty="0"/>
          </a:p>
        </p:txBody>
      </p:sp>
      <p:sp>
        <p:nvSpPr>
          <p:cNvPr id="3" name="Text 1"/>
          <p:cNvSpPr/>
          <p:nvPr/>
        </p:nvSpPr>
        <p:spPr>
          <a:xfrm>
            <a:off x="3609305" y="6153150"/>
            <a:ext cx="441046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37"/>
              </a:lnSpc>
              <a:buNone/>
            </a:pPr>
            <a:r>
              <a:rPr lang="en-US" sz="6750" b="1" spc="-169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</a:t>
            </a:r>
            <a:pPr algn="l" indent="0" marL="0">
              <a:lnSpc>
                <a:spcPct val="91837"/>
              </a:lnSpc>
              <a:buNone/>
            </a:pPr>
            <a:r>
              <a:rPr lang="en-US" sz="6750" b="1" spc="-169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fase II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2916659"/>
            <a:ext cx="14225588" cy="245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37"/>
              </a:lnSpc>
              <a:buNone/>
            </a:pPr>
            <a:r>
              <a:rPr lang="en-US" sz="5775" b="1" spc="-144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classificador manteve sensibilidade acima de 0,90 nas duas coortes, em contextos clínicos diferentes.</a:t>
            </a:r>
            <a:endParaRPr lang="en-US" sz="5775" dirty="0"/>
          </a:p>
        </p:txBody>
      </p:sp>
      <p:sp>
        <p:nvSpPr>
          <p:cNvPr id="3" name="Shape 1"/>
          <p:cNvSpPr/>
          <p:nvPr/>
        </p:nvSpPr>
        <p:spPr>
          <a:xfrm>
            <a:off x="1905000" y="6177409"/>
            <a:ext cx="76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4" name="Text 2"/>
          <p:cNvSpPr/>
          <p:nvPr/>
        </p:nvSpPr>
        <p:spPr>
          <a:xfrm>
            <a:off x="2895600" y="5946428"/>
            <a:ext cx="2247081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16"/>
              </a:lnSpc>
              <a:buNone/>
            </a:pPr>
            <a:r>
              <a:rPr lang="en-US" sz="2250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Síntese da fase II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003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417708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/ CONTEXTO E OBJETIVOS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39230"/>
            <a:ext cx="1373505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5250" b="1" spc="-131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Medir o que o exame convencional ainda não alcança.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1143000" y="3592711"/>
            <a:ext cx="1362075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700" dirty="0">
                <a:solidFill>
                  <a:srgbClr val="00352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Texto introdutório opcional, uma frase que resume o slide.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5890320"/>
            <a:ext cx="117729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fase II avaliou o desempenho do classificador em pacientes atendidos em ambulatório, com registros de rotina e sem preparo especial¹. O objetivo era confirmar que os resultados da fase I se mantêm fora do ambiente controlado de laboratório.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8100120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¹ Protocolo NRO-PCL-2026-03, aprovado pelos comitês de ética dos hospitais parceiros.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37711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142A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/ DESENHO DO ESTUDO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39230"/>
            <a:ext cx="14668500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70"/>
              </a:lnSpc>
              <a:buNone/>
            </a:pPr>
            <a:r>
              <a:rPr lang="en-US" sz="4800" b="1" spc="-120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Duas coortes, o mesmo protocolo.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6599932"/>
            <a:ext cx="77701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142A7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Coorte ambulatorial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324725"/>
            <a:ext cx="75438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752475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88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120 pacientes em acompanhamento de rotina, registros de 20 minutos em consultório.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01200" y="6599932"/>
            <a:ext cx="77701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142A7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Coorte hospitalar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601200" y="7324725"/>
            <a:ext cx="75438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752475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88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86 pacientes internados, registros contínuos à beira do leito com o mesmo equipamento.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251C66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405958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251C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/ FRENTES DE TRABALHO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39230"/>
            <a:ext cx="14668500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70"/>
              </a:lnSpc>
              <a:buNone/>
            </a:pPr>
            <a:r>
              <a:rPr lang="en-US" sz="4800" b="1" spc="-120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frentes avançaram no trimestre.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5179888"/>
            <a:ext cx="5130775" cy="3202112"/>
          </a:xfrm>
          <a:prstGeom prst="roundRect">
            <a:avLst>
              <a:gd name="adj" fmla="val 2380"/>
            </a:avLst>
          </a:prstGeom>
          <a:solidFill>
            <a:srgbClr val="251C66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5637088"/>
            <a:ext cx="4638013" cy="561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56"/>
              </a:lnSpc>
              <a:buNone/>
            </a:pPr>
            <a:r>
              <a:rPr lang="en-US" sz="4575" b="1" spc="-13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4575" dirty="0"/>
          </a:p>
        </p:txBody>
      </p:sp>
      <p:sp>
        <p:nvSpPr>
          <p:cNvPr id="7" name="Text 5"/>
          <p:cNvSpPr/>
          <p:nvPr/>
        </p:nvSpPr>
        <p:spPr>
          <a:xfrm>
            <a:off x="1600200" y="6388596"/>
            <a:ext cx="434286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Clínica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00200" y="7151489"/>
            <a:ext cx="434286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Fase II concluída nas duas coortes, dentro do prazo.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78575" y="5179888"/>
            <a:ext cx="5130775" cy="3202112"/>
          </a:xfrm>
          <a:prstGeom prst="roundRect">
            <a:avLst>
              <a:gd name="adj" fmla="val 2380"/>
            </a:avLst>
          </a:prstGeom>
          <a:solidFill>
            <a:srgbClr val="5A4ED4"/>
          </a:solidFill>
          <a:ln/>
        </p:spPr>
      </p:sp>
      <p:sp>
        <p:nvSpPr>
          <p:cNvPr id="10" name="Text 8"/>
          <p:cNvSpPr/>
          <p:nvPr/>
        </p:nvSpPr>
        <p:spPr>
          <a:xfrm>
            <a:off x="7035775" y="5637088"/>
            <a:ext cx="4638013" cy="561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56"/>
              </a:lnSpc>
              <a:buNone/>
            </a:pPr>
            <a:r>
              <a:rPr lang="en-US" sz="4575" b="1" spc="-13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4575" dirty="0"/>
          </a:p>
        </p:txBody>
      </p:sp>
      <p:sp>
        <p:nvSpPr>
          <p:cNvPr id="11" name="Text 9"/>
          <p:cNvSpPr/>
          <p:nvPr/>
        </p:nvSpPr>
        <p:spPr>
          <a:xfrm>
            <a:off x="7035775" y="6388596"/>
            <a:ext cx="434286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Engenharia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035775" y="7151489"/>
            <a:ext cx="434286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Nova versão do firmware reduz o ruído em 18%.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14150" y="5179888"/>
            <a:ext cx="5130850" cy="3202112"/>
          </a:xfrm>
          <a:prstGeom prst="roundRect">
            <a:avLst>
              <a:gd name="adj" fmla="val 2380"/>
            </a:avLst>
          </a:prstGeom>
          <a:solidFill>
            <a:srgbClr val="E7E5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1350" y="5637088"/>
            <a:ext cx="4638095" cy="561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56"/>
              </a:lnSpc>
              <a:buNone/>
            </a:pPr>
            <a:r>
              <a:rPr lang="en-US" sz="4575" b="1" spc="-137" kern="0" dirty="0">
                <a:solidFill>
                  <a:srgbClr val="251C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4575" dirty="0"/>
          </a:p>
        </p:txBody>
      </p:sp>
      <p:sp>
        <p:nvSpPr>
          <p:cNvPr id="15" name="Text 13"/>
          <p:cNvSpPr/>
          <p:nvPr/>
        </p:nvSpPr>
        <p:spPr>
          <a:xfrm>
            <a:off x="12471350" y="6388596"/>
            <a:ext cx="4342943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251C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Regulatório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471350" y="7151489"/>
            <a:ext cx="434294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251C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Dossiê técnico entregue para pré-submissão.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466800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/ PRINCÍPIOS DO PROTOCOLO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39230"/>
            <a:ext cx="14668500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70"/>
              </a:lnSpc>
              <a:buNone/>
            </a:pPr>
            <a:r>
              <a:rPr lang="en-US" sz="4800" b="1" spc="-120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Quatro decisões guiaram a fase II.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6069509"/>
            <a:ext cx="3657600" cy="19050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6355259"/>
            <a:ext cx="402336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1430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Rotina real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Sem preparo especial do paciente.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57800" y="6069509"/>
            <a:ext cx="3657600" cy="19050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6355259"/>
            <a:ext cx="402336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52578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Mesmo equipamento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578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Um único modelo em todos os centros.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72600" y="6069509"/>
            <a:ext cx="3657600" cy="19050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6355259"/>
            <a:ext cx="402336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93726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Leitura cega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726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Especialistas sem acesso ao classificador.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87400" y="6069509"/>
            <a:ext cx="3657600" cy="19050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18" name="Text 16"/>
          <p:cNvSpPr/>
          <p:nvPr/>
        </p:nvSpPr>
        <p:spPr>
          <a:xfrm>
            <a:off x="13487400" y="6355259"/>
            <a:ext cx="402336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134874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Dados abertos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4874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Base anonimizada disponível aos parceiros.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620750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70"/>
              </a:lnSpc>
              <a:buNone/>
            </a:pPr>
            <a:r>
              <a:rPr lang="en-US" sz="4800" b="1" spc="-120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fase II em três números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5231160"/>
            <a:ext cx="5130775" cy="3150840"/>
          </a:xfrm>
          <a:prstGeom prst="roundRect">
            <a:avLst>
              <a:gd name="adj" fmla="val 2418"/>
            </a:avLst>
          </a:prstGeom>
          <a:solidFill>
            <a:srgbClr val="D9F7F2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5650260"/>
            <a:ext cx="4721833" cy="142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41"/>
              </a:lnSpc>
              <a:buNone/>
            </a:pPr>
            <a:r>
              <a:rPr lang="en-US" sz="12150" b="1" spc="-365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0,94</a:t>
            </a:r>
            <a:endParaRPr lang="en-US" sz="12150" dirty="0"/>
          </a:p>
        </p:txBody>
      </p:sp>
      <p:sp>
        <p:nvSpPr>
          <p:cNvPr id="5" name="Text 3"/>
          <p:cNvSpPr/>
          <p:nvPr/>
        </p:nvSpPr>
        <p:spPr>
          <a:xfrm>
            <a:off x="1562100" y="7191375"/>
            <a:ext cx="44213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59"/>
              </a:lnSpc>
              <a:buNone/>
            </a:pPr>
            <a:r>
              <a:rPr lang="en-US" sz="2250" dirty="0">
                <a:solidFill>
                  <a:srgbClr val="0B4F4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Sensibilidade na coorte ambulatorial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578575" y="5231160"/>
            <a:ext cx="5130775" cy="3150840"/>
          </a:xfrm>
          <a:prstGeom prst="roundRect">
            <a:avLst>
              <a:gd name="adj" fmla="val 2418"/>
            </a:avLst>
          </a:prstGeom>
          <a:solidFill>
            <a:srgbClr val="93E8DB"/>
          </a:solidFill>
          <a:ln/>
        </p:spPr>
      </p:sp>
      <p:sp>
        <p:nvSpPr>
          <p:cNvPr id="7" name="Text 5"/>
          <p:cNvSpPr/>
          <p:nvPr/>
        </p:nvSpPr>
        <p:spPr>
          <a:xfrm>
            <a:off x="6997675" y="5650260"/>
            <a:ext cx="4721833" cy="142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41"/>
              </a:lnSpc>
              <a:buNone/>
            </a:pPr>
            <a:r>
              <a:rPr lang="en-US" sz="12150" b="1" spc="-365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0,92</a:t>
            </a:r>
            <a:endParaRPr lang="en-US" sz="12150" dirty="0"/>
          </a:p>
        </p:txBody>
      </p:sp>
      <p:sp>
        <p:nvSpPr>
          <p:cNvPr id="8" name="Text 6"/>
          <p:cNvSpPr/>
          <p:nvPr/>
        </p:nvSpPr>
        <p:spPr>
          <a:xfrm>
            <a:off x="6997675" y="7191375"/>
            <a:ext cx="44213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59"/>
              </a:lnSpc>
              <a:buNone/>
            </a:pPr>
            <a:r>
              <a:rPr lang="en-US" sz="2250" dirty="0">
                <a:solidFill>
                  <a:srgbClr val="0B4F4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Sensibilidade na coorte hospitalar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014150" y="5231160"/>
            <a:ext cx="5130850" cy="3150840"/>
          </a:xfrm>
          <a:prstGeom prst="roundRect">
            <a:avLst>
              <a:gd name="adj" fmla="val 2418"/>
            </a:avLst>
          </a:prstGeom>
          <a:solidFill>
            <a:srgbClr val="D9F7F2"/>
          </a:solidFill>
          <a:ln/>
        </p:spPr>
      </p:sp>
      <p:sp>
        <p:nvSpPr>
          <p:cNvPr id="10" name="Text 8"/>
          <p:cNvSpPr/>
          <p:nvPr/>
        </p:nvSpPr>
        <p:spPr>
          <a:xfrm>
            <a:off x="12433250" y="5650260"/>
            <a:ext cx="4721915" cy="142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41"/>
              </a:lnSpc>
              <a:buNone/>
            </a:pPr>
            <a:r>
              <a:rPr lang="en-US" sz="12150" b="1" spc="-365" kern="0" dirty="0">
                <a:solidFill>
                  <a:srgbClr val="0B4F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206</a:t>
            </a:r>
            <a:endParaRPr lang="en-US" sz="12150" dirty="0"/>
          </a:p>
        </p:txBody>
      </p:sp>
      <p:sp>
        <p:nvSpPr>
          <p:cNvPr id="11" name="Text 9"/>
          <p:cNvSpPr/>
          <p:nvPr/>
        </p:nvSpPr>
        <p:spPr>
          <a:xfrm>
            <a:off x="12433250" y="7191375"/>
            <a:ext cx="442142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59"/>
              </a:lnSpc>
              <a:buNone/>
            </a:pPr>
            <a:r>
              <a:rPr lang="en-US" sz="2250" dirty="0">
                <a:solidFill>
                  <a:srgbClr val="0B4F4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Participantes avaliados em seis meses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E8ED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421192"/>
            <a:ext cx="555027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Imagem do laboratório, enquadramento vertical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287000" y="1131540"/>
            <a:ext cx="533400" cy="19050"/>
          </a:xfrm>
          <a:prstGeom prst="rect">
            <a:avLst/>
          </a:prstGeom>
          <a:solidFill>
            <a:srgbClr val="2E4636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0" y="952500"/>
            <a:ext cx="322934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2E46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/ INFRAESTRUTURA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0" y="4902398"/>
            <a:ext cx="7063740" cy="1850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98"/>
              </a:lnSpc>
              <a:buNone/>
            </a:pPr>
            <a:r>
              <a:rPr lang="en-US" sz="4575" b="1" spc="-114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laboratório dentro da universidade, com rotina de empresa.</a:t>
            </a:r>
            <a:endParaRPr lang="en-US" sz="4575" dirty="0"/>
          </a:p>
        </p:txBody>
      </p:sp>
      <p:sp>
        <p:nvSpPr>
          <p:cNvPr id="7" name="Text 5"/>
          <p:cNvSpPr/>
          <p:nvPr/>
        </p:nvSpPr>
        <p:spPr>
          <a:xfrm>
            <a:off x="10287000" y="7096125"/>
            <a:ext cx="706374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88"/>
              </a:lnSpc>
              <a:buNone/>
            </a:pPr>
            <a:r>
              <a:rPr lang="en-US" sz="22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equipe atua no LABBIO, Escola de Engenharia da UFMG, com acesso a pacientes por meio de três hospitais parceiros.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459196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3B23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/ DESEMPENHO POR COORTE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4106391"/>
            <a:ext cx="4302100" cy="803895"/>
          </a:xfrm>
          <a:prstGeom prst="rect">
            <a:avLst/>
          </a:prstGeom>
          <a:solidFill>
            <a:srgbClr val="EEE8F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900761"/>
            <a:ext cx="4302100" cy="9525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106391"/>
            <a:ext cx="4302100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315941"/>
            <a:ext cx="4126363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b="1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Coorte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445100" y="4106391"/>
            <a:ext cx="3794299" cy="803895"/>
          </a:xfrm>
          <a:prstGeom prst="rect">
            <a:avLst/>
          </a:prstGeom>
          <a:solidFill>
            <a:srgbClr val="EEE8FE"/>
          </a:solidFill>
          <a:ln/>
        </p:spPr>
      </p:sp>
      <p:sp>
        <p:nvSpPr>
          <p:cNvPr id="9" name="Shape 7"/>
          <p:cNvSpPr/>
          <p:nvPr/>
        </p:nvSpPr>
        <p:spPr>
          <a:xfrm>
            <a:off x="5445100" y="4900761"/>
            <a:ext cx="3794299" cy="9525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0" name="Shape 8"/>
          <p:cNvSpPr/>
          <p:nvPr/>
        </p:nvSpPr>
        <p:spPr>
          <a:xfrm>
            <a:off x="5445100" y="4106391"/>
            <a:ext cx="3794299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1" name="Text 9"/>
          <p:cNvSpPr/>
          <p:nvPr/>
        </p:nvSpPr>
        <p:spPr>
          <a:xfrm>
            <a:off x="5483671" y="4315941"/>
            <a:ext cx="360332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190"/>
              </a:lnSpc>
              <a:buNone/>
            </a:pPr>
            <a:r>
              <a:rPr lang="en-US" sz="1950" b="1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Participantes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39399" y="4106391"/>
            <a:ext cx="3814167" cy="803895"/>
          </a:xfrm>
          <a:prstGeom prst="rect">
            <a:avLst/>
          </a:prstGeom>
          <a:solidFill>
            <a:srgbClr val="EEE8FE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9399" y="4900761"/>
            <a:ext cx="3814167" cy="9525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9399" y="4106391"/>
            <a:ext cx="3814167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5" name="Text 13"/>
          <p:cNvSpPr/>
          <p:nvPr/>
        </p:nvSpPr>
        <p:spPr>
          <a:xfrm>
            <a:off x="9277374" y="4315941"/>
            <a:ext cx="3623792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190"/>
              </a:lnSpc>
              <a:buNone/>
            </a:pPr>
            <a:r>
              <a:rPr lang="en-US" sz="1950" b="1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Sensibilidade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053566" y="4106391"/>
            <a:ext cx="4091434" cy="803895"/>
          </a:xfrm>
          <a:prstGeom prst="rect">
            <a:avLst/>
          </a:prstGeom>
          <a:solidFill>
            <a:srgbClr val="EEE8F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053566" y="4900761"/>
            <a:ext cx="4091434" cy="9525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053566" y="4106391"/>
            <a:ext cx="4091434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19" name="Text 17"/>
          <p:cNvSpPr/>
          <p:nvPr/>
        </p:nvSpPr>
        <p:spPr>
          <a:xfrm>
            <a:off x="13083223" y="4315941"/>
            <a:ext cx="390937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190"/>
              </a:lnSpc>
              <a:buNone/>
            </a:pPr>
            <a:r>
              <a:rPr lang="en-US" sz="1950" b="1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Especificidade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870377"/>
            <a:ext cx="4302100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5138886"/>
            <a:ext cx="412636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Ambulatorial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45100" y="5870377"/>
            <a:ext cx="3794299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3671" y="5138886"/>
            <a:ext cx="3603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120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39399" y="5870377"/>
            <a:ext cx="3814167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25" name="Text 23"/>
          <p:cNvSpPr/>
          <p:nvPr/>
        </p:nvSpPr>
        <p:spPr>
          <a:xfrm>
            <a:off x="9277374" y="5138886"/>
            <a:ext cx="362379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0,94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3053566" y="5870377"/>
            <a:ext cx="4091434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27" name="Text 25"/>
          <p:cNvSpPr/>
          <p:nvPr/>
        </p:nvSpPr>
        <p:spPr>
          <a:xfrm>
            <a:off x="13083223" y="5138886"/>
            <a:ext cx="3909377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0,91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143000" y="6839992"/>
            <a:ext cx="4302100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6108502"/>
            <a:ext cx="412636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Hospitalar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445100" y="6839992"/>
            <a:ext cx="3794299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3671" y="6108502"/>
            <a:ext cx="3603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86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239399" y="6839992"/>
            <a:ext cx="3814167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33" name="Text 31"/>
          <p:cNvSpPr/>
          <p:nvPr/>
        </p:nvSpPr>
        <p:spPr>
          <a:xfrm>
            <a:off x="9277374" y="6108502"/>
            <a:ext cx="362379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0,92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3053566" y="6839992"/>
            <a:ext cx="4091434" cy="9525"/>
          </a:xfrm>
          <a:prstGeom prst="rect">
            <a:avLst/>
          </a:prstGeom>
          <a:solidFill>
            <a:srgbClr val="CDBEFC"/>
          </a:solidFill>
          <a:ln/>
        </p:spPr>
      </p:sp>
      <p:sp>
        <p:nvSpPr>
          <p:cNvPr id="35" name="Text 33"/>
          <p:cNvSpPr/>
          <p:nvPr/>
        </p:nvSpPr>
        <p:spPr>
          <a:xfrm>
            <a:off x="13083223" y="6108502"/>
            <a:ext cx="3909377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0,89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143000" y="7804845"/>
            <a:ext cx="4302100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37" name="Text 35"/>
          <p:cNvSpPr/>
          <p:nvPr/>
        </p:nvSpPr>
        <p:spPr>
          <a:xfrm>
            <a:off x="1295400" y="7078117"/>
            <a:ext cx="4126363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5445100" y="7804845"/>
            <a:ext cx="3794299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39" name="Text 37"/>
          <p:cNvSpPr/>
          <p:nvPr/>
        </p:nvSpPr>
        <p:spPr>
          <a:xfrm>
            <a:off x="5483671" y="7078117"/>
            <a:ext cx="3603328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206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239399" y="7804845"/>
            <a:ext cx="3814167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41" name="Text 39"/>
          <p:cNvSpPr/>
          <p:nvPr/>
        </p:nvSpPr>
        <p:spPr>
          <a:xfrm>
            <a:off x="9277374" y="7078117"/>
            <a:ext cx="3623792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0,93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3053566" y="7804845"/>
            <a:ext cx="4091434" cy="19050"/>
          </a:xfrm>
          <a:prstGeom prst="rect">
            <a:avLst/>
          </a:prstGeom>
          <a:solidFill>
            <a:srgbClr val="3B2378"/>
          </a:solidFill>
          <a:ln/>
        </p:spPr>
      </p:sp>
      <p:sp>
        <p:nvSpPr>
          <p:cNvPr id="43" name="Text 41"/>
          <p:cNvSpPr/>
          <p:nvPr/>
        </p:nvSpPr>
        <p:spPr>
          <a:xfrm>
            <a:off x="13083223" y="7078117"/>
            <a:ext cx="3909377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0,90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143000" y="8100120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Fonte: registros clínicos da fase II, março a agosto de 2026.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42408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142A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/ RECRUTAMENTO MENSAL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6569273"/>
            <a:ext cx="5886450" cy="1850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98"/>
              </a:lnSpc>
              <a:buNone/>
            </a:pPr>
            <a:r>
              <a:rPr lang="en-US" sz="4575" b="1" spc="-114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ritmo dobrou depois da entrada do segundo hospital.</a:t>
            </a:r>
            <a:endParaRPr lang="en-US" sz="4575" dirty="0"/>
          </a:p>
        </p:txBody>
      </p:sp>
      <p:sp>
        <p:nvSpPr>
          <p:cNvPr id="5" name="Shape 3"/>
          <p:cNvSpPr/>
          <p:nvPr/>
        </p:nvSpPr>
        <p:spPr>
          <a:xfrm>
            <a:off x="8001000" y="8362950"/>
            <a:ext cx="9144000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6" name="Text 4"/>
          <p:cNvSpPr/>
          <p:nvPr/>
        </p:nvSpPr>
        <p:spPr>
          <a:xfrm>
            <a:off x="8490347" y="5989365"/>
            <a:ext cx="3357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18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0" y="6581775"/>
            <a:ext cx="1238250" cy="1781175"/>
          </a:xfrm>
          <a:prstGeom prst="rect">
            <a:avLst/>
          </a:prstGeom>
          <a:solidFill>
            <a:srgbClr val="A9B9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4307" y="5579790"/>
            <a:ext cx="37013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22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82150" y="6172200"/>
            <a:ext cx="1238250" cy="2190750"/>
          </a:xfrm>
          <a:prstGeom prst="rect">
            <a:avLst/>
          </a:prstGeom>
          <a:solidFill>
            <a:srgbClr val="A9B9F6"/>
          </a:solidFill>
          <a:ln/>
        </p:spPr>
      </p:sp>
      <p:sp>
        <p:nvSpPr>
          <p:cNvPr id="10" name="Text 8"/>
          <p:cNvSpPr/>
          <p:nvPr/>
        </p:nvSpPr>
        <p:spPr>
          <a:xfrm>
            <a:off x="11633150" y="5255940"/>
            <a:ext cx="37467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163300" y="5848350"/>
            <a:ext cx="1238250" cy="2514600"/>
          </a:xfrm>
          <a:prstGeom prst="rect">
            <a:avLst/>
          </a:prstGeom>
          <a:solidFill>
            <a:srgbClr val="A9B9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33127" y="3722415"/>
            <a:ext cx="33709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b="1" dirty="0">
                <a:solidFill>
                  <a:srgbClr val="142A7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744450" y="4314825"/>
            <a:ext cx="1238250" cy="4048125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14" name="Text 12"/>
          <p:cNvSpPr/>
          <p:nvPr/>
        </p:nvSpPr>
        <p:spPr>
          <a:xfrm>
            <a:off x="14791804" y="3074715"/>
            <a:ext cx="381967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b="1" dirty="0">
                <a:solidFill>
                  <a:srgbClr val="142A7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47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4325600" y="3667125"/>
            <a:ext cx="1238250" cy="4695825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16" name="Text 14"/>
          <p:cNvSpPr/>
          <p:nvPr/>
        </p:nvSpPr>
        <p:spPr>
          <a:xfrm>
            <a:off x="16371168" y="2427015"/>
            <a:ext cx="38561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b="1" dirty="0">
                <a:solidFill>
                  <a:srgbClr val="142A7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53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06750" y="3019425"/>
            <a:ext cx="1238250" cy="5343525"/>
          </a:xfrm>
          <a:prstGeom prst="rect">
            <a:avLst/>
          </a:prstGeom>
          <a:solidFill>
            <a:srgbClr val="142A7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5250" b="1" spc="-131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Plano para </a:t>
            </a:r>
            <a:pPr algn="l" indent="0" marL="0">
              <a:lnSpc>
                <a:spcPct val="95789"/>
              </a:lnSpc>
              <a:buNone/>
            </a:pPr>
            <a:r>
              <a:rPr lang="en-US" sz="5250" b="1" spc="-131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2027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5093271"/>
            <a:ext cx="16002000" cy="19050"/>
          </a:xfrm>
          <a:prstGeom prst="rect">
            <a:avLst/>
          </a:prstGeom>
          <a:solidFill>
            <a:srgbClr val="4A453E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5455221"/>
            <a:ext cx="3981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143000" y="6108576"/>
            <a:ext cx="3728085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Aprovação ética da fase III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7304856"/>
            <a:ext cx="3728085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Submissão do protocolo ampliado aos comitês dos três hospitais.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43500" y="5455221"/>
            <a:ext cx="3981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T2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143500" y="610857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Início do recrutamento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43500" y="680196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Meta de 600 participantes, com ênfase na coorte hospitalar.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0" y="5455221"/>
            <a:ext cx="3981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T3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9144000" y="610857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Análise interina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0" y="680196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Revisão independente dos primeiros 300 registros.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144500" y="5455221"/>
            <a:ext cx="3981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73"/>
              </a:lnSpc>
              <a:buNone/>
            </a:pPr>
            <a:r>
              <a:rPr lang="en-US" sz="4050" b="1" spc="-12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T4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13144500" y="610857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240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Relatório ao regulador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44500" y="680196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Documentação para o pedido de registro do dispositivo.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70"/>
              </a:lnSpc>
              <a:buNone/>
            </a:pPr>
            <a:r>
              <a:rPr lang="en-US" sz="4800" b="1" spc="-120" kern="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Duas opções para a coorte hospitalar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5109270"/>
            <a:ext cx="7810500" cy="3272730"/>
          </a:xfrm>
          <a:prstGeom prst="roundRect">
            <a:avLst>
              <a:gd name="adj" fmla="val 2328"/>
            </a:avLst>
          </a:prstGeom>
          <a:solidFill>
            <a:srgbClr val="1F4A22"/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5642670"/>
            <a:ext cx="694601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OPÇÃO A, RECOMENDADA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76400" y="6286500"/>
            <a:ext cx="67437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6562725"/>
            <a:ext cx="69460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88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Ampliar a coorte atual com um quarto hospital. Prazo de 9 meses, custo dentro do orçamento aprovado.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0" y="5109270"/>
            <a:ext cx="7810500" cy="3272730"/>
          </a:xfrm>
          <a:prstGeom prst="roundRect">
            <a:avLst>
              <a:gd name="adj" fmla="val 2328"/>
            </a:avLst>
          </a:prstGeom>
          <a:solidFill>
            <a:srgbClr val="E4F2E3"/>
          </a:solidFill>
          <a:ln/>
        </p:spPr>
      </p:sp>
      <p:sp>
        <p:nvSpPr>
          <p:cNvPr id="8" name="Text 6"/>
          <p:cNvSpPr/>
          <p:nvPr/>
        </p:nvSpPr>
        <p:spPr>
          <a:xfrm>
            <a:off x="9867900" y="5642670"/>
            <a:ext cx="694601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1F4A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OPÇÃO 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67900" y="6286500"/>
            <a:ext cx="6743700" cy="9525"/>
          </a:xfrm>
          <a:prstGeom prst="rect">
            <a:avLst/>
          </a:prstGeom>
          <a:solidFill>
            <a:srgbClr val="1F4A22"/>
          </a:solidFill>
          <a:ln/>
        </p:spPr>
      </p:sp>
      <p:sp>
        <p:nvSpPr>
          <p:cNvPr id="10" name="Text 8"/>
          <p:cNvSpPr/>
          <p:nvPr/>
        </p:nvSpPr>
        <p:spPr>
          <a:xfrm>
            <a:off x="9867900" y="6562725"/>
            <a:ext cx="694601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88"/>
              </a:lnSpc>
              <a:buNone/>
            </a:pPr>
            <a:r>
              <a:rPr lang="en-US" sz="2250" dirty="0">
                <a:solidFill>
                  <a:srgbClr val="1F4A2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Estudo multicêntrico nacional. Prazo de 18 meses e necessidade de captação adicional.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0439400" cy="7524750"/>
          </a:xfrm>
          <a:prstGeom prst="roundRect">
            <a:avLst>
              <a:gd name="adj" fmla="val 1013"/>
            </a:avLst>
          </a:prstGeom>
          <a:solidFill>
            <a:srgbClr val="3B2378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1714500"/>
            <a:ext cx="90258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CDBE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PARECER INDEPENDENTE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81200" y="4907459"/>
            <a:ext cx="9025890" cy="2845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959"/>
              </a:lnSpc>
              <a:buNone/>
            </a:pPr>
            <a:r>
              <a:rPr lang="en-US" sz="5025" b="1" spc="-101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“Recomendamos avançar para a fase III mantendo o protocolo atual e ampliando a coorte hospitalar.”</a:t>
            </a:r>
            <a:endParaRPr lang="en-US" sz="5025" dirty="0"/>
          </a:p>
        </p:txBody>
      </p:sp>
      <p:sp>
        <p:nvSpPr>
          <p:cNvPr id="5" name="Shape 3"/>
          <p:cNvSpPr/>
          <p:nvPr/>
        </p:nvSpPr>
        <p:spPr>
          <a:xfrm>
            <a:off x="11811000" y="952500"/>
            <a:ext cx="5334000" cy="6153150"/>
          </a:xfrm>
          <a:prstGeom prst="roundRect">
            <a:avLst>
              <a:gd name="adj" fmla="val 1429"/>
            </a:avLst>
          </a:prstGeom>
          <a:solidFill>
            <a:srgbClr val="EEE8F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0" y="4528393"/>
            <a:ext cx="4395216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81"/>
              </a:lnSpc>
              <a:buNone/>
            </a:pPr>
            <a:r>
              <a:rPr lang="en-US" sz="2550" b="1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Comitê científico independente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44400" y="5692229"/>
            <a:ext cx="439521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3B23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Parecer de 26 de setembro de 2026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811000" y="7334250"/>
            <a:ext cx="5334000" cy="1143000"/>
          </a:xfrm>
          <a:prstGeom prst="roundRect">
            <a:avLst>
              <a:gd name="adj" fmla="val 6667"/>
            </a:avLst>
          </a:prstGeom>
          <a:solidFill>
            <a:srgbClr val="CDBEF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0" y="7717185"/>
            <a:ext cx="28945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3B23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FASE III, APROVADA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1540"/>
            <a:ext cx="5334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952500"/>
            <a:ext cx="390038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b="1" spc="252" kern="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/ EQUIPE RESPONSÁVEL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349664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478092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28"/>
              </a:lnSpc>
              <a:buNone/>
            </a:pPr>
            <a:r>
              <a:rPr lang="en-US" sz="255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 Ribeiro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Diretora científica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38750" y="349664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0" y="7478092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28"/>
              </a:lnSpc>
              <a:buNone/>
            </a:pPr>
            <a:r>
              <a:rPr lang="en-US" sz="255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Rafael Mendes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23875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Engenharia de sinais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34500" y="349664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7478092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28"/>
              </a:lnSpc>
              <a:buNone/>
            </a:pPr>
            <a:r>
              <a:rPr lang="en-US" sz="255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Júlia Prado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33450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Pesquisa clínica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30250" y="349664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13430250" y="7478092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28"/>
              </a:lnSpc>
              <a:buNone/>
            </a:pPr>
            <a:r>
              <a:rPr lang="en-US" sz="2550" b="1" dirty="0">
                <a:solidFill>
                  <a:srgbClr val="1D1D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Caio Ferreira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43025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90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Regulatório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414570"/>
            <a:ext cx="442993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34098" y="8999339"/>
            <a:ext cx="38710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1800" spc="144" kern="0" dirty="0">
                <a:solidFill>
                  <a:srgbClr val="1D1D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91456" y="9414570"/>
            <a:ext cx="283615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37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0" y="-4000500"/>
            <a:ext cx="9525000" cy="9525000"/>
          </a:xfrm>
          <a:prstGeom prst="ellipse">
            <a:avLst/>
          </a:prstGeom>
          <a:solidFill>
            <a:srgbClr val="CEDC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000500" y="4953000"/>
            <a:ext cx="11430000" cy="11430000"/>
          </a:xfrm>
          <a:prstGeom prst="ellipse">
            <a:avLst/>
          </a:prstGeom>
          <a:solidFill>
            <a:srgbClr val="00594F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6082754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54"/>
              </a:lnSpc>
              <a:buNone/>
            </a:pPr>
            <a:r>
              <a:rPr lang="en-US" sz="9000" b="1" spc="-225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Obrigada.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1143000" y="7987754"/>
            <a:ext cx="16002000" cy="952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302079"/>
            <a:ext cx="403927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ana.ribeiro@neurodynamics.dev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8799240"/>
            <a:ext cx="403927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neurodynamics.dev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14914215" y="8858250"/>
            <a:ext cx="2230785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2026-10-07T02:35:51Z</dcterms:created>
  <dcterms:modified xsi:type="dcterms:W3CDTF">2026-10-07T02:35:51Z</dcterms:modified>
</cp:coreProperties>
</file>