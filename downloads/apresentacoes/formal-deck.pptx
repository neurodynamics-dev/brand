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1058168"/>
            <a:ext cx="2453878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750998" y="1047750"/>
            <a:ext cx="4525822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E3EFE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Conselho consultivo, outubro de 2026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1143000" y="5142830"/>
            <a:ext cx="14716125" cy="2732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136"/>
              </a:lnSpc>
              <a:buNone/>
            </a:pPr>
            <a:r>
              <a:rPr lang="en-US" sz="10200" spc="-102" kern="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Resultados da fase II e o plano para </a:t>
            </a:r>
            <a:pPr algn="l" indent="0" marL="0">
              <a:lnSpc>
                <a:spcPct val="80136"/>
              </a:lnSpc>
              <a:buNone/>
            </a:pPr>
            <a:r>
              <a:rPr lang="en-US" sz="10200" i="1" spc="-102" kern="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2027</a:t>
            </a:r>
            <a:endParaRPr lang="en-US" sz="10200" dirty="0"/>
          </a:p>
        </p:txBody>
      </p:sp>
      <p:sp>
        <p:nvSpPr>
          <p:cNvPr id="5" name="Shape 2"/>
          <p:cNvSpPr/>
          <p:nvPr/>
        </p:nvSpPr>
        <p:spPr>
          <a:xfrm>
            <a:off x="1143000" y="8523015"/>
            <a:ext cx="16002000" cy="9525"/>
          </a:xfrm>
          <a:prstGeom prst="rect">
            <a:avLst/>
          </a:prstGeom>
          <a:solidFill>
            <a:srgbClr val="A9CCC4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8799240"/>
            <a:ext cx="3552488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E3EFE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Ana Ribeiro, diretora científica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4078471" y="8799240"/>
            <a:ext cx="3158525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E3EFE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Documento de uso restrito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058168"/>
            <a:ext cx="2476500" cy="419100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3" name="Text 1"/>
          <p:cNvSpPr/>
          <p:nvPr/>
        </p:nvSpPr>
        <p:spPr>
          <a:xfrm>
            <a:off x="12750998" y="1047750"/>
            <a:ext cx="4525822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Conselho consultivo, outubro de 2026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43000" y="5142830"/>
            <a:ext cx="14716125" cy="2732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136"/>
              </a:lnSpc>
              <a:buNone/>
            </a:pPr>
            <a:r>
              <a:rPr lang="en-US" sz="10200" spc="-102" kern="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Resultados da fase II e o plano para </a:t>
            </a:r>
            <a:pPr algn="l" indent="0" marL="0">
              <a:lnSpc>
                <a:spcPct val="80136"/>
              </a:lnSpc>
              <a:buNone/>
            </a:pPr>
            <a:r>
              <a:rPr lang="en-US" sz="10200" i="1" spc="-102" kern="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2027</a:t>
            </a:r>
            <a:endParaRPr lang="en-US" sz="10200" dirty="0"/>
          </a:p>
        </p:txBody>
      </p:sp>
      <p:sp>
        <p:nvSpPr>
          <p:cNvPr id="5" name="Shape 3"/>
          <p:cNvSpPr/>
          <p:nvPr/>
        </p:nvSpPr>
        <p:spPr>
          <a:xfrm>
            <a:off x="1143000" y="8523015"/>
            <a:ext cx="16002000" cy="9525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8799240"/>
            <a:ext cx="3552488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Ana Ribeiro, diretora científica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078471" y="8799240"/>
            <a:ext cx="3158525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Documento de uso restrito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59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-124162" t="0" b="0"/>
          <a:stretch/>
        </p:blipFill>
        <p:spPr>
          <a:xfrm>
            <a:off x="1143000" y="1047750"/>
            <a:ext cx="16002000" cy="1219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6685062"/>
            <a:ext cx="1114806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632"/>
              </a:lnSpc>
              <a:buNone/>
            </a:pPr>
            <a:r>
              <a:rPr lang="en-US" sz="3300" i="1" dirty="0">
                <a:solidFill>
                  <a:srgbClr val="E3EFE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Relatório ao conselho consultivo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143000" y="7416552"/>
            <a:ext cx="10438638" cy="1860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67"/>
              </a:lnSpc>
              <a:buNone/>
            </a:pPr>
            <a:r>
              <a:rPr lang="en-US" sz="6900" spc="-69" kern="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Resultados da fase II e o plano para 2027</a:t>
            </a:r>
            <a:endParaRPr lang="en-US" sz="6900" dirty="0"/>
          </a:p>
        </p:txBody>
      </p:sp>
      <p:sp>
        <p:nvSpPr>
          <p:cNvPr id="5" name="Shape 2"/>
          <p:cNvSpPr/>
          <p:nvPr/>
        </p:nvSpPr>
        <p:spPr>
          <a:xfrm>
            <a:off x="12192000" y="8044904"/>
            <a:ext cx="4953000" cy="9525"/>
          </a:xfrm>
          <a:prstGeom prst="rect">
            <a:avLst/>
          </a:prstGeom>
          <a:solidFill>
            <a:srgbClr val="A9CCC4"/>
          </a:solidFill>
          <a:ln/>
        </p:spPr>
      </p:sp>
      <p:sp>
        <p:nvSpPr>
          <p:cNvPr id="6" name="Text 3"/>
          <p:cNvSpPr/>
          <p:nvPr/>
        </p:nvSpPr>
        <p:spPr>
          <a:xfrm>
            <a:off x="12192000" y="8283029"/>
            <a:ext cx="510159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E3EFE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Ana Ribeiro, diretora científica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2192000" y="8799240"/>
            <a:ext cx="510159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E3EFE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Outubro de 2026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3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058168"/>
            <a:ext cx="2476500" cy="419100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3" name="Text 1"/>
          <p:cNvSpPr/>
          <p:nvPr/>
        </p:nvSpPr>
        <p:spPr>
          <a:xfrm>
            <a:off x="14686136" y="1047750"/>
            <a:ext cx="2535064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Conselho consultivo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43000" y="4488731"/>
            <a:ext cx="12753975" cy="2256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55"/>
              </a:lnSpc>
              <a:buNone/>
            </a:pPr>
            <a:r>
              <a:rPr lang="en-US" sz="8400" spc="-84" kern="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Resultados da fase II e o plano para 2027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143000" y="7012409"/>
            <a:ext cx="9810750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243"/>
              </a:lnSpc>
              <a:buNone/>
            </a:pPr>
            <a:r>
              <a:rPr lang="en-US" sz="255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Resultados consolidados das coortes A e B e a proposta de cronograma para a fase III.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143000" y="8561115"/>
            <a:ext cx="16002000" cy="9525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8799240"/>
            <a:ext cx="1648206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Outubro de 2026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29500" cy="10287000"/>
          </a:xfrm>
          <a:prstGeom prst="rect">
            <a:avLst/>
          </a:prstGeom>
          <a:solidFill>
            <a:srgbClr val="00352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1595512" y="4781550"/>
            <a:ext cx="4238476" cy="723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77250" y="1143000"/>
            <a:ext cx="902589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Conselho consultivo, outubro de 2026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477250" y="6480125"/>
            <a:ext cx="9025890" cy="1939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872"/>
              </a:lnSpc>
              <a:buNone/>
            </a:pPr>
            <a:r>
              <a:rPr lang="en-US" sz="7200" spc="-72" kern="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Resultados da fase II e o plano para 2027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8477250" y="8686800"/>
            <a:ext cx="96393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3000" i="1" dirty="0">
                <a:solidFill>
                  <a:srgbClr val="00594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Síntese para deliberação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0926" y="2880420"/>
            <a:ext cx="2286000" cy="381000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3" name="Text 1"/>
          <p:cNvSpPr/>
          <p:nvPr/>
        </p:nvSpPr>
        <p:spPr>
          <a:xfrm>
            <a:off x="4971585" y="3985320"/>
            <a:ext cx="8344756" cy="1226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0" spc="-90" kern="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Resultados da fase II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7516644" y="5516910"/>
            <a:ext cx="3254563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6720"/>
              </a:lnSpc>
              <a:buNone/>
            </a:pPr>
            <a:r>
              <a:rPr lang="en-US" sz="3600" i="1" dirty="0">
                <a:solidFill>
                  <a:srgbClr val="4A453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 o plano para 2027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762926" y="6614145"/>
            <a:ext cx="762000" cy="9525"/>
          </a:xfrm>
          <a:prstGeom prst="rect">
            <a:avLst/>
          </a:prstGeom>
          <a:solidFill>
            <a:srgbClr val="4A453E"/>
          </a:solidFill>
          <a:ln/>
        </p:spPr>
      </p:sp>
      <p:sp>
        <p:nvSpPr>
          <p:cNvPr id="6" name="Text 4"/>
          <p:cNvSpPr/>
          <p:nvPr/>
        </p:nvSpPr>
        <p:spPr>
          <a:xfrm>
            <a:off x="6881015" y="6966570"/>
            <a:ext cx="4525822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4A453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Conselho consultivo, outubro de 2026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15318"/>
            <a:ext cx="1809750" cy="304800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3" name="Text 1"/>
          <p:cNvSpPr/>
          <p:nvPr/>
        </p:nvSpPr>
        <p:spPr>
          <a:xfrm>
            <a:off x="15171911" y="1047750"/>
            <a:ext cx="2049289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Outubro de 2026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43000" y="6810375"/>
            <a:ext cx="6406009" cy="2466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5385"/>
              </a:lnSpc>
              <a:buNone/>
            </a:pPr>
            <a:r>
              <a:rPr lang="en-US" sz="22500" spc="-225" kern="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Fase </a:t>
            </a:r>
            <a:pPr algn="l" indent="0" marL="0">
              <a:lnSpc>
                <a:spcPct val="65385"/>
              </a:lnSpc>
              <a:buNone/>
            </a:pPr>
            <a:r>
              <a:rPr lang="en-US" sz="22500" i="1" spc="-225" kern="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II</a:t>
            </a:r>
            <a:endParaRPr lang="en-US" sz="22500" dirty="0"/>
          </a:p>
        </p:txBody>
      </p:sp>
      <p:sp>
        <p:nvSpPr>
          <p:cNvPr id="5" name="Shape 3"/>
          <p:cNvSpPr/>
          <p:nvPr/>
        </p:nvSpPr>
        <p:spPr>
          <a:xfrm>
            <a:off x="12818194" y="7858199"/>
            <a:ext cx="4326806" cy="19050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6" name="Text 4"/>
          <p:cNvSpPr/>
          <p:nvPr/>
        </p:nvSpPr>
        <p:spPr>
          <a:xfrm>
            <a:off x="12818194" y="8143949"/>
            <a:ext cx="4759486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632"/>
              </a:lnSpc>
              <a:buNone/>
            </a:pPr>
            <a:r>
              <a:rPr lang="en-US" sz="3300" i="1" dirty="0">
                <a:solidFill>
                  <a:srgbClr val="00594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Resultados e plano para 2027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818194" y="8799240"/>
            <a:ext cx="445661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Ana Ribeiro, diretora científica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58674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9000" spc="-90" kern="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Agenda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1143000" y="2400300"/>
            <a:ext cx="451294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818"/>
              </a:lnSpc>
              <a:buNone/>
            </a:pPr>
            <a:r>
              <a:rPr lang="en-US" sz="2250" dirty="0">
                <a:solidFill>
                  <a:srgbClr val="4A453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Uma hora, quatro blocos e uma deliberação ao final.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7620000" y="2157413"/>
            <a:ext cx="9525000" cy="9525"/>
          </a:xfrm>
          <a:prstGeom prst="rect">
            <a:avLst/>
          </a:prstGeom>
          <a:solidFill>
            <a:srgbClr val="4A453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0" y="2452688"/>
            <a:ext cx="112395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82"/>
              </a:lnSpc>
              <a:buNone/>
            </a:pPr>
            <a:r>
              <a:rPr lang="en-US" sz="480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667750" y="2495550"/>
            <a:ext cx="7990013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724"/>
              </a:lnSpc>
              <a:buNone/>
            </a:pPr>
            <a:r>
              <a:rPr lang="en-US" sz="30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Contexto e objetivos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425044" y="2647950"/>
            <a:ext cx="796156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526"/>
              </a:lnSpc>
              <a:buNone/>
            </a:pPr>
            <a:r>
              <a:rPr lang="en-US" sz="1950" dirty="0">
                <a:solidFill>
                  <a:srgbClr val="4A453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10 min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620000" y="3409950"/>
            <a:ext cx="9525000" cy="9525"/>
          </a:xfrm>
          <a:prstGeom prst="rect">
            <a:avLst/>
          </a:prstGeom>
          <a:solidFill>
            <a:srgbClr val="C9BFAF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0" y="3705225"/>
            <a:ext cx="112395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82"/>
              </a:lnSpc>
              <a:buNone/>
            </a:pPr>
            <a:r>
              <a:rPr lang="en-US" sz="480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8667750" y="3748087"/>
            <a:ext cx="797292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724"/>
              </a:lnSpc>
              <a:buNone/>
            </a:pPr>
            <a:r>
              <a:rPr lang="en-US" sz="30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Resultados da fase II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6408450" y="3900488"/>
            <a:ext cx="812750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526"/>
              </a:lnSpc>
              <a:buNone/>
            </a:pPr>
            <a:r>
              <a:rPr lang="en-US" sz="1950" dirty="0">
                <a:solidFill>
                  <a:srgbClr val="4A453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 min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620000" y="4662488"/>
            <a:ext cx="9525000" cy="9525"/>
          </a:xfrm>
          <a:prstGeom prst="rect">
            <a:avLst/>
          </a:prstGeom>
          <a:solidFill>
            <a:srgbClr val="C9BFAF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0" y="4957763"/>
            <a:ext cx="112395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82"/>
              </a:lnSpc>
              <a:buNone/>
            </a:pPr>
            <a:r>
              <a:rPr lang="en-US" sz="480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667750" y="5000625"/>
            <a:ext cx="799054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724"/>
              </a:lnSpc>
              <a:buNone/>
            </a:pPr>
            <a:r>
              <a:rPr lang="en-US" sz="30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Riscos e mitigação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6425565" y="5153025"/>
            <a:ext cx="795635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526"/>
              </a:lnSpc>
              <a:buNone/>
            </a:pPr>
            <a:r>
              <a:rPr lang="en-US" sz="1950" dirty="0">
                <a:solidFill>
                  <a:srgbClr val="4A453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15 min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620000" y="7167563"/>
            <a:ext cx="9525000" cy="9525"/>
          </a:xfrm>
          <a:prstGeom prst="rect">
            <a:avLst/>
          </a:prstGeom>
          <a:solidFill>
            <a:srgbClr val="4A453E"/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0" y="5915025"/>
            <a:ext cx="9525000" cy="9525"/>
          </a:xfrm>
          <a:prstGeom prst="rect">
            <a:avLst/>
          </a:prstGeom>
          <a:solidFill>
            <a:srgbClr val="C9BFAF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0" y="6210300"/>
            <a:ext cx="112395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82"/>
              </a:lnSpc>
              <a:buNone/>
            </a:pPr>
            <a:r>
              <a:rPr lang="en-US" sz="480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8667750" y="6253163"/>
            <a:ext cx="799054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724"/>
              </a:lnSpc>
              <a:buNone/>
            </a:pPr>
            <a:r>
              <a:rPr lang="en-US" sz="30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Plano para 2027 e deliberação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6425565" y="6405563"/>
            <a:ext cx="795635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526"/>
              </a:lnSpc>
              <a:buNone/>
            </a:pPr>
            <a:r>
              <a:rPr lang="en-US" sz="1950" dirty="0">
                <a:solidFill>
                  <a:srgbClr val="4A453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15 min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43000" y="9414570"/>
            <a:ext cx="427058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4A453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882318" y="8999339"/>
            <a:ext cx="33888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573473" y="9414570"/>
            <a:ext cx="264867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4A453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59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975920"/>
            <a:ext cx="1777901" cy="3158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0000"/>
              </a:lnSpc>
              <a:buNone/>
            </a:pPr>
            <a:r>
              <a:rPr lang="en-US" sz="315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3368873" y="5734050"/>
            <a:ext cx="3908511" cy="217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76"/>
              </a:lnSpc>
              <a:buNone/>
            </a:pPr>
            <a:r>
              <a:rPr lang="en-US" sz="8400" spc="-84" kern="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Resultados </a:t>
            </a:r>
            <a:pPr algn="l" indent="0" marL="0">
              <a:lnSpc>
                <a:spcPct val="76976"/>
              </a:lnSpc>
              <a:buNone/>
            </a:pPr>
            <a:r>
              <a:rPr lang="en-US" sz="8400" i="1" spc="-84" kern="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da fase II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1143000" y="9414570"/>
            <a:ext cx="427058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E3EFE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882542" y="8999339"/>
            <a:ext cx="338658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573473" y="9414570"/>
            <a:ext cx="264867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E3EFE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975920"/>
            <a:ext cx="1777901" cy="3158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0000"/>
              </a:lnSpc>
              <a:buNone/>
            </a:pPr>
            <a:r>
              <a:rPr lang="en-US" sz="31500" dirty="0">
                <a:solidFill>
                  <a:srgbClr val="00594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3368873" y="5734050"/>
            <a:ext cx="3908511" cy="217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76"/>
              </a:lnSpc>
              <a:buNone/>
            </a:pPr>
            <a:r>
              <a:rPr lang="en-US" sz="8400" spc="-84" kern="0" dirty="0">
                <a:solidFill>
                  <a:srgbClr val="1D1D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Resultados </a:t>
            </a:r>
            <a:pPr algn="l" indent="0" marL="0">
              <a:lnSpc>
                <a:spcPct val="76976"/>
              </a:lnSpc>
              <a:buNone/>
            </a:pPr>
            <a:r>
              <a:rPr lang="en-US" sz="8400" i="1" spc="-84" kern="0" dirty="0">
                <a:solidFill>
                  <a:srgbClr val="1D1D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da fase II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1143000" y="9414570"/>
            <a:ext cx="427058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888718" y="8999339"/>
            <a:ext cx="33248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573473" y="9414570"/>
            <a:ext cx="264867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3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0" y="2618036"/>
            <a:ext cx="14225588" cy="3055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480"/>
              </a:lnSpc>
              <a:buNone/>
            </a:pPr>
            <a:r>
              <a:rPr lang="en-US" sz="7200" spc="-72" kern="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 classificador manteve sensibilidade acima de 0,90 nas duas coortes, em contextos clínicos diferentes.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1905000" y="6475958"/>
            <a:ext cx="762000" cy="9525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4" name="Text 2"/>
          <p:cNvSpPr/>
          <p:nvPr/>
        </p:nvSpPr>
        <p:spPr>
          <a:xfrm>
            <a:off x="2895600" y="6244977"/>
            <a:ext cx="219104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Síntese da fase II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143000" y="9414570"/>
            <a:ext cx="427058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894894" y="8999339"/>
            <a:ext cx="326306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573473" y="9414570"/>
            <a:ext cx="264867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52500"/>
            <a:ext cx="16002000" cy="9525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243013"/>
            <a:ext cx="2538636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Contexto e objetivos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7046178" y="1152525"/>
            <a:ext cx="175022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42"/>
              </a:lnSpc>
              <a:buNone/>
            </a:pPr>
            <a:r>
              <a:rPr lang="en-US" sz="2700" i="1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43000" y="2327895"/>
            <a:ext cx="13735050" cy="1781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930"/>
              </a:lnSpc>
              <a:buNone/>
            </a:pPr>
            <a:r>
              <a:rPr lang="en-US" sz="6600" spc="-66" kern="0" dirty="0">
                <a:solidFill>
                  <a:srgbClr val="1D1D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Medir o que o exame convencional ainda não alcança.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1143000" y="4337968"/>
            <a:ext cx="1362075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70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Texto introdutório opcional, uma frase que resume o slide.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143000" y="6347520"/>
            <a:ext cx="1177290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fase II avaliou o desempenho do classificador em pacientes atendidos em ambulatório, com registros de rotina e sem preparo especial¹. O objetivo era confirmar que os resultados da fase I se mantêm fora do ambiente controlado de laboratório.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8100120"/>
            <a:ext cx="1648206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¹ Protocolo NRO-PCL-2026-03, aprovado pelos comitês de ética dos hospitais parceiros.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9414570"/>
            <a:ext cx="427058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889388" y="8999339"/>
            <a:ext cx="33181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573473" y="9414570"/>
            <a:ext cx="264867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52500"/>
            <a:ext cx="16002000" cy="9525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243013"/>
            <a:ext cx="2418159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Desenho do estudo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947431" y="1152525"/>
            <a:ext cx="273769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42"/>
              </a:lnSpc>
              <a:buNone/>
            </a:pPr>
            <a:r>
              <a:rPr lang="en-US" sz="2700" i="1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43000" y="2327895"/>
            <a:ext cx="14668500" cy="830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spc="-60" kern="0" dirty="0">
                <a:solidFill>
                  <a:srgbClr val="1D1D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Duas coortes, o mesmo protocolo.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143000" y="6599932"/>
            <a:ext cx="7770114" cy="572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622"/>
              </a:lnSpc>
              <a:buNone/>
            </a:pPr>
            <a:r>
              <a:rPr lang="en-US" sz="255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Coorte ambulatorial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143000" y="7324725"/>
            <a:ext cx="7543800" cy="9525"/>
          </a:xfrm>
          <a:prstGeom prst="rect">
            <a:avLst/>
          </a:prstGeom>
          <a:solidFill>
            <a:srgbClr val="C4CCC9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7524750"/>
            <a:ext cx="777011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64"/>
              </a:lnSpc>
              <a:buNone/>
            </a:pPr>
            <a:r>
              <a:rPr lang="en-US" sz="225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120 pacientes em acompanhamento de rotina, registros de 20 minutos em consultório.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601200" y="6599932"/>
            <a:ext cx="7770114" cy="572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622"/>
              </a:lnSpc>
              <a:buNone/>
            </a:pPr>
            <a:r>
              <a:rPr lang="en-US" sz="255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Coorte hospitalar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601200" y="7324725"/>
            <a:ext cx="7543800" cy="9525"/>
          </a:xfrm>
          <a:prstGeom prst="rect">
            <a:avLst/>
          </a:prstGeom>
          <a:solidFill>
            <a:srgbClr val="C4CCC9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0" y="7524750"/>
            <a:ext cx="777011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64"/>
              </a:lnSpc>
              <a:buNone/>
            </a:pPr>
            <a:r>
              <a:rPr lang="en-US" sz="225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86 pacientes internados, registros contínuos à beira do leito com o mesmo equipamento.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43000" y="9414570"/>
            <a:ext cx="427058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888495" y="8999339"/>
            <a:ext cx="33270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573473" y="9414570"/>
            <a:ext cx="264867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52500"/>
            <a:ext cx="16002000" cy="9525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243013"/>
            <a:ext cx="2400226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Frentes de trabalho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848683" y="1152525"/>
            <a:ext cx="372517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42"/>
              </a:lnSpc>
              <a:buNone/>
            </a:pPr>
            <a:r>
              <a:rPr lang="en-US" sz="2700" i="1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iii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43000" y="2327895"/>
            <a:ext cx="14668500" cy="830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spc="-60" kern="0" dirty="0">
                <a:solidFill>
                  <a:srgbClr val="1D1D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Três frentes avançaram no trimestre.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1143000" y="5085606"/>
            <a:ext cx="5130775" cy="3296394"/>
          </a:xfrm>
          <a:prstGeom prst="roundRect">
            <a:avLst>
              <a:gd name="adj" fmla="val 2312"/>
            </a:avLst>
          </a:prstGeom>
          <a:solidFill>
            <a:srgbClr val="00352F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5542806"/>
            <a:ext cx="4638013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36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600200" y="6388596"/>
            <a:ext cx="4342866" cy="572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622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Clínica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600200" y="7151489"/>
            <a:ext cx="434286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1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Fase II concluída nas duas coortes, dentro do prazo.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78575" y="5085606"/>
            <a:ext cx="5130775" cy="3296394"/>
          </a:xfrm>
          <a:prstGeom prst="roundRect">
            <a:avLst>
              <a:gd name="adj" fmla="val 2312"/>
            </a:avLst>
          </a:prstGeom>
          <a:solidFill>
            <a:srgbClr val="00594F"/>
          </a:solidFill>
          <a:ln/>
        </p:spPr>
      </p:sp>
      <p:sp>
        <p:nvSpPr>
          <p:cNvPr id="11" name="Text 9"/>
          <p:cNvSpPr/>
          <p:nvPr/>
        </p:nvSpPr>
        <p:spPr>
          <a:xfrm>
            <a:off x="7035775" y="5542806"/>
            <a:ext cx="4638013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36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7035775" y="6388596"/>
            <a:ext cx="4342866" cy="572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622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Engenharia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7035775" y="7151489"/>
            <a:ext cx="434286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1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Nova versão do firmware reduz o ruído em 18%.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014150" y="5085606"/>
            <a:ext cx="5130850" cy="3296394"/>
          </a:xfrm>
          <a:prstGeom prst="roundRect">
            <a:avLst>
              <a:gd name="adj" fmla="val 2312"/>
            </a:avLst>
          </a:prstGeom>
          <a:solidFill>
            <a:srgbClr val="E3EFEC"/>
          </a:solidFill>
          <a:ln/>
        </p:spPr>
      </p:sp>
      <p:sp>
        <p:nvSpPr>
          <p:cNvPr id="15" name="Text 13"/>
          <p:cNvSpPr/>
          <p:nvPr/>
        </p:nvSpPr>
        <p:spPr>
          <a:xfrm>
            <a:off x="12471350" y="5542806"/>
            <a:ext cx="463809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36"/>
              </a:lnSpc>
              <a:buNone/>
            </a:pPr>
            <a:r>
              <a:rPr lang="en-US" sz="540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12471350" y="6388596"/>
            <a:ext cx="4342943" cy="572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622"/>
              </a:lnSpc>
              <a:buNone/>
            </a:pPr>
            <a:r>
              <a:rPr lang="en-US" sz="255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Regulatório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2471350" y="7151489"/>
            <a:ext cx="4342943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15"/>
              </a:lnSpc>
              <a:buNone/>
            </a:pPr>
            <a:r>
              <a:rPr lang="en-US" sz="210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Dossiê técnico entregue para pré-submissão.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43000" y="9414570"/>
            <a:ext cx="427058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890504" y="8999339"/>
            <a:ext cx="330696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573473" y="9414570"/>
            <a:ext cx="264867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52500"/>
            <a:ext cx="16002000" cy="9525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243013"/>
            <a:ext cx="2860217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Princípios do protocolo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904940" y="1152525"/>
            <a:ext cx="31626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42"/>
              </a:lnSpc>
              <a:buNone/>
            </a:pPr>
            <a:r>
              <a:rPr lang="en-US" sz="2700" i="1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iv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43000" y="2327895"/>
            <a:ext cx="14668500" cy="830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spc="-60" kern="0" dirty="0">
                <a:solidFill>
                  <a:srgbClr val="1D1D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Quatro decisões guiaram a fase II.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1143000" y="5983784"/>
            <a:ext cx="3657600" cy="19050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6269534"/>
            <a:ext cx="402336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82"/>
              </a:lnSpc>
              <a:buNone/>
            </a:pPr>
            <a:r>
              <a:rPr lang="en-US" sz="480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143000" y="6989564"/>
            <a:ext cx="3767328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3043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Rotina real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43000" y="7663904"/>
            <a:ext cx="3767328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81"/>
              </a:lnSpc>
              <a:buNone/>
            </a:pPr>
            <a:r>
              <a:rPr lang="en-US" sz="195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Sem preparo especial do paciente.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257800" y="5983784"/>
            <a:ext cx="3657600" cy="19050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6269534"/>
            <a:ext cx="402336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82"/>
              </a:lnSpc>
              <a:buNone/>
            </a:pPr>
            <a:r>
              <a:rPr lang="en-US" sz="480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257800" y="6989564"/>
            <a:ext cx="3767328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3043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Mesmo equipamento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257800" y="7663904"/>
            <a:ext cx="3767328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81"/>
              </a:lnSpc>
              <a:buNone/>
            </a:pPr>
            <a:r>
              <a:rPr lang="en-US" sz="195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Um único modelo em todos os centros.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372600" y="5983784"/>
            <a:ext cx="3657600" cy="19050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15" name="Text 13"/>
          <p:cNvSpPr/>
          <p:nvPr/>
        </p:nvSpPr>
        <p:spPr>
          <a:xfrm>
            <a:off x="9372600" y="6269534"/>
            <a:ext cx="402336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82"/>
              </a:lnSpc>
              <a:buNone/>
            </a:pPr>
            <a:r>
              <a:rPr lang="en-US" sz="480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9372600" y="6989564"/>
            <a:ext cx="3767328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3043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Leitura cega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372600" y="7663904"/>
            <a:ext cx="3767328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81"/>
              </a:lnSpc>
              <a:buNone/>
            </a:pPr>
            <a:r>
              <a:rPr lang="en-US" sz="195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Especialistas sem acesso ao classificador.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3487400" y="5983784"/>
            <a:ext cx="3657600" cy="19050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19" name="Text 17"/>
          <p:cNvSpPr/>
          <p:nvPr/>
        </p:nvSpPr>
        <p:spPr>
          <a:xfrm>
            <a:off x="13487400" y="6269534"/>
            <a:ext cx="402336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82"/>
              </a:lnSpc>
              <a:buNone/>
            </a:pPr>
            <a:r>
              <a:rPr lang="en-US" sz="480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3487400" y="6989564"/>
            <a:ext cx="3767328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3043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Dados abertos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487400" y="7663904"/>
            <a:ext cx="3767328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81"/>
              </a:lnSpc>
              <a:buNone/>
            </a:pPr>
            <a:r>
              <a:rPr lang="en-US" sz="195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Base anonimizada disponível aos parceiros.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43000" y="9414570"/>
            <a:ext cx="427058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888941" y="8999339"/>
            <a:ext cx="33225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573473" y="9414570"/>
            <a:ext cx="264867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3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3620750" cy="830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spc="-60" kern="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fase II em três números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143000" y="5368379"/>
            <a:ext cx="4927550" cy="19050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5692229"/>
            <a:ext cx="5420305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231"/>
              </a:lnSpc>
              <a:buNone/>
            </a:pPr>
            <a:r>
              <a:rPr lang="en-US" sz="1500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0,94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1143000" y="7559129"/>
            <a:ext cx="5420305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17"/>
              </a:lnSpc>
              <a:buNone/>
            </a:pPr>
            <a:r>
              <a:rPr lang="en-US" sz="240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Sensibilidade na coorte ambulatorial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680150" y="5368379"/>
            <a:ext cx="4927625" cy="19050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7" name="Text 5"/>
          <p:cNvSpPr/>
          <p:nvPr/>
        </p:nvSpPr>
        <p:spPr>
          <a:xfrm>
            <a:off x="6680150" y="5692229"/>
            <a:ext cx="5420387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231"/>
              </a:lnSpc>
              <a:buNone/>
            </a:pPr>
            <a:r>
              <a:rPr lang="en-US" sz="1500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0,92</a:t>
            </a:r>
            <a:endParaRPr lang="en-US" sz="15000" dirty="0"/>
          </a:p>
        </p:txBody>
      </p:sp>
      <p:sp>
        <p:nvSpPr>
          <p:cNvPr id="8" name="Text 6"/>
          <p:cNvSpPr/>
          <p:nvPr/>
        </p:nvSpPr>
        <p:spPr>
          <a:xfrm>
            <a:off x="6680150" y="7559129"/>
            <a:ext cx="5420387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17"/>
              </a:lnSpc>
              <a:buNone/>
            </a:pPr>
            <a:r>
              <a:rPr lang="en-US" sz="240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Sensibilidade na coorte hospitalar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217375" y="5368379"/>
            <a:ext cx="4927550" cy="19050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10" name="Text 8"/>
          <p:cNvSpPr/>
          <p:nvPr/>
        </p:nvSpPr>
        <p:spPr>
          <a:xfrm>
            <a:off x="12217375" y="5692229"/>
            <a:ext cx="5420305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231"/>
              </a:lnSpc>
              <a:buNone/>
            </a:pPr>
            <a:r>
              <a:rPr lang="en-US" sz="1500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206</a:t>
            </a:r>
            <a:endParaRPr lang="en-US" sz="15000" dirty="0"/>
          </a:p>
        </p:txBody>
      </p:sp>
      <p:sp>
        <p:nvSpPr>
          <p:cNvPr id="11" name="Text 9"/>
          <p:cNvSpPr/>
          <p:nvPr/>
        </p:nvSpPr>
        <p:spPr>
          <a:xfrm>
            <a:off x="12217375" y="7559129"/>
            <a:ext cx="5075377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17"/>
              </a:lnSpc>
              <a:buNone/>
            </a:pPr>
            <a:r>
              <a:rPr lang="en-US" sz="240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Participantes avaliados em seis meses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43000" y="9414570"/>
            <a:ext cx="427058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888495" y="8999339"/>
            <a:ext cx="33270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573473" y="9414570"/>
            <a:ext cx="264867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E8ED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421192"/>
            <a:ext cx="5232809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526"/>
              </a:lnSpc>
              <a:buNone/>
            </a:pPr>
            <a:r>
              <a:rPr lang="en-US" sz="195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Imagem do laboratório, enquadramento vertical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10287000" y="952500"/>
            <a:ext cx="6858000" cy="9525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5" name="Text 3"/>
          <p:cNvSpPr/>
          <p:nvPr/>
        </p:nvSpPr>
        <p:spPr>
          <a:xfrm>
            <a:off x="10287000" y="1243013"/>
            <a:ext cx="1700436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Infraestrutura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003688" y="1152525"/>
            <a:ext cx="217512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42"/>
              </a:lnSpc>
              <a:buNone/>
            </a:pPr>
            <a:r>
              <a:rPr lang="en-US" sz="2700" i="1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287000" y="4456584"/>
            <a:ext cx="7063740" cy="229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244"/>
              </a:lnSpc>
              <a:buNone/>
            </a:pPr>
            <a:r>
              <a:rPr lang="en-US" sz="5700" spc="-57" kern="0" dirty="0">
                <a:solidFill>
                  <a:srgbClr val="1D1D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Um laboratório dentro da universidade, com rotina de empresa.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10287000" y="7096125"/>
            <a:ext cx="706374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64"/>
              </a:lnSpc>
              <a:buNone/>
            </a:pPr>
            <a:r>
              <a:rPr lang="en-US" sz="225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equipe atua no LABBIO, Escola de Engenharia da UFMG, com acesso a pacientes por meio de três hospitais parceiros.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6891025" y="8999339"/>
            <a:ext cx="33017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573473" y="9414570"/>
            <a:ext cx="264867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52500"/>
            <a:ext cx="16002000" cy="9525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243013"/>
            <a:ext cx="2990439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Desempenho por coorte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904940" y="1152525"/>
            <a:ext cx="31626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42"/>
              </a:lnSpc>
              <a:buNone/>
            </a:pPr>
            <a:r>
              <a:rPr lang="en-US" sz="2700" i="1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43000" y="4900761"/>
            <a:ext cx="4215259" cy="9525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106391"/>
            <a:ext cx="4215259" cy="19050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315941"/>
            <a:ext cx="4036917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526"/>
              </a:lnSpc>
              <a:buNone/>
            </a:pPr>
            <a:r>
              <a:rPr lang="en-US" sz="195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Coorte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358259" y="4900761"/>
            <a:ext cx="3775323" cy="9525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9" name="Shape 7"/>
          <p:cNvSpPr/>
          <p:nvPr/>
        </p:nvSpPr>
        <p:spPr>
          <a:xfrm>
            <a:off x="5358259" y="4106391"/>
            <a:ext cx="3775323" cy="19050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10" name="Text 8"/>
          <p:cNvSpPr/>
          <p:nvPr/>
        </p:nvSpPr>
        <p:spPr>
          <a:xfrm>
            <a:off x="5397399" y="4315941"/>
            <a:ext cx="3583783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50526"/>
              </a:lnSpc>
              <a:buNone/>
            </a:pPr>
            <a:r>
              <a:rPr lang="en-US" sz="195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Participantes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133582" y="4900761"/>
            <a:ext cx="3861122" cy="9525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12" name="Shape 10"/>
          <p:cNvSpPr/>
          <p:nvPr/>
        </p:nvSpPr>
        <p:spPr>
          <a:xfrm>
            <a:off x="9133582" y="4106391"/>
            <a:ext cx="3861122" cy="19050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13" name="Text 11"/>
          <p:cNvSpPr/>
          <p:nvPr/>
        </p:nvSpPr>
        <p:spPr>
          <a:xfrm>
            <a:off x="9170148" y="4315941"/>
            <a:ext cx="3672156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50526"/>
              </a:lnSpc>
              <a:buNone/>
            </a:pPr>
            <a:r>
              <a:rPr lang="en-US" sz="195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Sensibilidade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994704" y="4900761"/>
            <a:ext cx="4150296" cy="9525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15" name="Shape 13"/>
          <p:cNvSpPr/>
          <p:nvPr/>
        </p:nvSpPr>
        <p:spPr>
          <a:xfrm>
            <a:off x="12994704" y="4106391"/>
            <a:ext cx="4150296" cy="19050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16" name="Text 14"/>
          <p:cNvSpPr/>
          <p:nvPr/>
        </p:nvSpPr>
        <p:spPr>
          <a:xfrm>
            <a:off x="13022596" y="4315941"/>
            <a:ext cx="3970004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50526"/>
              </a:lnSpc>
              <a:buNone/>
            </a:pPr>
            <a:r>
              <a:rPr lang="en-US" sz="195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Especificidade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143000" y="5870377"/>
            <a:ext cx="4215259" cy="9525"/>
          </a:xfrm>
          <a:prstGeom prst="rect">
            <a:avLst/>
          </a:prstGeom>
          <a:solidFill>
            <a:srgbClr val="C4CCC9"/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5138886"/>
            <a:ext cx="4036917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3043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Ambulatorial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358259" y="5870377"/>
            <a:ext cx="3775323" cy="9525"/>
          </a:xfrm>
          <a:prstGeom prst="rect">
            <a:avLst/>
          </a:prstGeom>
          <a:solidFill>
            <a:srgbClr val="C4CCC9"/>
          </a:solidFill>
          <a:ln/>
        </p:spPr>
      </p:sp>
      <p:sp>
        <p:nvSpPr>
          <p:cNvPr id="20" name="Text 18"/>
          <p:cNvSpPr/>
          <p:nvPr/>
        </p:nvSpPr>
        <p:spPr>
          <a:xfrm>
            <a:off x="5397399" y="5138886"/>
            <a:ext cx="3583783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53043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120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133582" y="5870377"/>
            <a:ext cx="3861122" cy="9525"/>
          </a:xfrm>
          <a:prstGeom prst="rect">
            <a:avLst/>
          </a:prstGeom>
          <a:solidFill>
            <a:srgbClr val="C4CCC9"/>
          </a:solidFill>
          <a:ln/>
        </p:spPr>
      </p:sp>
      <p:sp>
        <p:nvSpPr>
          <p:cNvPr id="22" name="Text 20"/>
          <p:cNvSpPr/>
          <p:nvPr/>
        </p:nvSpPr>
        <p:spPr>
          <a:xfrm>
            <a:off x="9170148" y="5138886"/>
            <a:ext cx="3672156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53043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0,94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2994704" y="5870377"/>
            <a:ext cx="4150296" cy="9525"/>
          </a:xfrm>
          <a:prstGeom prst="rect">
            <a:avLst/>
          </a:prstGeom>
          <a:solidFill>
            <a:srgbClr val="C4CCC9"/>
          </a:solidFill>
          <a:ln/>
        </p:spPr>
      </p:sp>
      <p:sp>
        <p:nvSpPr>
          <p:cNvPr id="24" name="Text 22"/>
          <p:cNvSpPr/>
          <p:nvPr/>
        </p:nvSpPr>
        <p:spPr>
          <a:xfrm>
            <a:off x="13022596" y="5138886"/>
            <a:ext cx="3970004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53043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0,91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143000" y="6839992"/>
            <a:ext cx="4215259" cy="9525"/>
          </a:xfrm>
          <a:prstGeom prst="rect">
            <a:avLst/>
          </a:prstGeom>
          <a:solidFill>
            <a:srgbClr val="C4CCC9"/>
          </a:solidFill>
          <a:ln/>
        </p:spPr>
      </p:sp>
      <p:sp>
        <p:nvSpPr>
          <p:cNvPr id="26" name="Text 24"/>
          <p:cNvSpPr/>
          <p:nvPr/>
        </p:nvSpPr>
        <p:spPr>
          <a:xfrm>
            <a:off x="1295400" y="6108502"/>
            <a:ext cx="4036917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3043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Hospitalar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5358259" y="6839992"/>
            <a:ext cx="3775323" cy="9525"/>
          </a:xfrm>
          <a:prstGeom prst="rect">
            <a:avLst/>
          </a:prstGeom>
          <a:solidFill>
            <a:srgbClr val="C4CCC9"/>
          </a:solidFill>
          <a:ln/>
        </p:spPr>
      </p:sp>
      <p:sp>
        <p:nvSpPr>
          <p:cNvPr id="28" name="Text 26"/>
          <p:cNvSpPr/>
          <p:nvPr/>
        </p:nvSpPr>
        <p:spPr>
          <a:xfrm>
            <a:off x="5397399" y="6108502"/>
            <a:ext cx="3583783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53043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86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9133582" y="6839992"/>
            <a:ext cx="3861122" cy="9525"/>
          </a:xfrm>
          <a:prstGeom prst="rect">
            <a:avLst/>
          </a:prstGeom>
          <a:solidFill>
            <a:srgbClr val="C4CCC9"/>
          </a:solidFill>
          <a:ln/>
        </p:spPr>
      </p:sp>
      <p:sp>
        <p:nvSpPr>
          <p:cNvPr id="30" name="Text 28"/>
          <p:cNvSpPr/>
          <p:nvPr/>
        </p:nvSpPr>
        <p:spPr>
          <a:xfrm>
            <a:off x="9170148" y="6108502"/>
            <a:ext cx="3672156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53043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0,92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12994704" y="6839992"/>
            <a:ext cx="4150296" cy="9525"/>
          </a:xfrm>
          <a:prstGeom prst="rect">
            <a:avLst/>
          </a:prstGeom>
          <a:solidFill>
            <a:srgbClr val="C4CCC9"/>
          </a:solidFill>
          <a:ln/>
        </p:spPr>
      </p:sp>
      <p:sp>
        <p:nvSpPr>
          <p:cNvPr id="32" name="Text 30"/>
          <p:cNvSpPr/>
          <p:nvPr/>
        </p:nvSpPr>
        <p:spPr>
          <a:xfrm>
            <a:off x="13022596" y="6108502"/>
            <a:ext cx="3970004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53043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0,89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1143000" y="7804845"/>
            <a:ext cx="4215259" cy="19050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34" name="Text 32"/>
          <p:cNvSpPr/>
          <p:nvPr/>
        </p:nvSpPr>
        <p:spPr>
          <a:xfrm>
            <a:off x="1295400" y="7078117"/>
            <a:ext cx="4036917" cy="536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3043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Total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5358259" y="7804845"/>
            <a:ext cx="3775323" cy="19050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36" name="Text 34"/>
          <p:cNvSpPr/>
          <p:nvPr/>
        </p:nvSpPr>
        <p:spPr>
          <a:xfrm>
            <a:off x="5397399" y="7078117"/>
            <a:ext cx="3583783" cy="536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53043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206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9133582" y="7804845"/>
            <a:ext cx="3861122" cy="19050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38" name="Text 36"/>
          <p:cNvSpPr/>
          <p:nvPr/>
        </p:nvSpPr>
        <p:spPr>
          <a:xfrm>
            <a:off x="9170148" y="7078117"/>
            <a:ext cx="3672156" cy="536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53043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0,93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12994704" y="7804845"/>
            <a:ext cx="4150296" cy="19050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40" name="Text 38"/>
          <p:cNvSpPr/>
          <p:nvPr/>
        </p:nvSpPr>
        <p:spPr>
          <a:xfrm>
            <a:off x="13022596" y="7078117"/>
            <a:ext cx="3970004" cy="536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53043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0,90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1143000" y="8100120"/>
            <a:ext cx="1648206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Fonte: registros clínicos da fase II, março a agosto de 2026.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143000" y="9414570"/>
            <a:ext cx="427058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6888495" y="8999339"/>
            <a:ext cx="33270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18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4573473" y="9414570"/>
            <a:ext cx="264867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52500"/>
            <a:ext cx="5715000" cy="9525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243013"/>
            <a:ext cx="273329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Recrutamento mensal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519193" y="1152525"/>
            <a:ext cx="415007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42"/>
              </a:lnSpc>
              <a:buNone/>
            </a:pPr>
            <a:r>
              <a:rPr lang="en-US" sz="2700" i="1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vii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43000" y="6123459"/>
            <a:ext cx="5886450" cy="229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244"/>
              </a:lnSpc>
              <a:buNone/>
            </a:pPr>
            <a:r>
              <a:rPr lang="en-US" sz="5700" spc="-57" kern="0" dirty="0">
                <a:solidFill>
                  <a:srgbClr val="1D1D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 ritmo dobrou depois da entrada do segundo hospital.</a:t>
            </a:r>
            <a:endParaRPr lang="en-US" sz="5700" dirty="0"/>
          </a:p>
        </p:txBody>
      </p:sp>
      <p:sp>
        <p:nvSpPr>
          <p:cNvPr id="6" name="Shape 4"/>
          <p:cNvSpPr/>
          <p:nvPr/>
        </p:nvSpPr>
        <p:spPr>
          <a:xfrm>
            <a:off x="8001000" y="8362950"/>
            <a:ext cx="9144000" cy="19050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7" name="Text 5"/>
          <p:cNvSpPr/>
          <p:nvPr/>
        </p:nvSpPr>
        <p:spPr>
          <a:xfrm>
            <a:off x="8477548" y="5989365"/>
            <a:ext cx="361355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18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001000" y="6581775"/>
            <a:ext cx="1238250" cy="1781175"/>
          </a:xfrm>
          <a:prstGeom prst="rect">
            <a:avLst/>
          </a:prstGeom>
          <a:solidFill>
            <a:srgbClr val="A9CCC4"/>
          </a:solidFill>
          <a:ln/>
        </p:spPr>
      </p:sp>
      <p:sp>
        <p:nvSpPr>
          <p:cNvPr id="9" name="Text 7"/>
          <p:cNvSpPr/>
          <p:nvPr/>
        </p:nvSpPr>
        <p:spPr>
          <a:xfrm>
            <a:off x="10051107" y="5579790"/>
            <a:ext cx="376535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22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582150" y="6172200"/>
            <a:ext cx="1238250" cy="2190750"/>
          </a:xfrm>
          <a:prstGeom prst="rect">
            <a:avLst/>
          </a:prstGeom>
          <a:solidFill>
            <a:srgbClr val="A9CCC4"/>
          </a:solidFill>
          <a:ln/>
        </p:spPr>
      </p:sp>
      <p:sp>
        <p:nvSpPr>
          <p:cNvPr id="11" name="Text 9"/>
          <p:cNvSpPr/>
          <p:nvPr/>
        </p:nvSpPr>
        <p:spPr>
          <a:xfrm>
            <a:off x="11631290" y="5255940"/>
            <a:ext cx="378396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25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163300" y="5848350"/>
            <a:ext cx="1238250" cy="2514600"/>
          </a:xfrm>
          <a:prstGeom prst="rect">
            <a:avLst/>
          </a:prstGeom>
          <a:solidFill>
            <a:srgbClr val="A9CCC4"/>
          </a:solidFill>
          <a:ln/>
        </p:spPr>
      </p:sp>
      <p:sp>
        <p:nvSpPr>
          <p:cNvPr id="13" name="Text 11"/>
          <p:cNvSpPr/>
          <p:nvPr/>
        </p:nvSpPr>
        <p:spPr>
          <a:xfrm>
            <a:off x="13215119" y="3722415"/>
            <a:ext cx="373038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41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744450" y="4314825"/>
            <a:ext cx="1238250" cy="4048125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4794037" y="3074715"/>
            <a:ext cx="377577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47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4325600" y="3667125"/>
            <a:ext cx="1238250" cy="4695825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17" name="Text 15"/>
          <p:cNvSpPr/>
          <p:nvPr/>
        </p:nvSpPr>
        <p:spPr>
          <a:xfrm>
            <a:off x="16372731" y="2427015"/>
            <a:ext cx="382414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53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5906750" y="3019425"/>
            <a:ext cx="1238250" cy="5343525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9414570"/>
            <a:ext cx="427058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888718" y="8999339"/>
            <a:ext cx="33248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19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573473" y="9414570"/>
            <a:ext cx="264867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909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930"/>
              </a:lnSpc>
              <a:buNone/>
            </a:pPr>
            <a:r>
              <a:rPr lang="en-US" sz="6600" spc="-66" kern="0" dirty="0">
                <a:solidFill>
                  <a:srgbClr val="1D1D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Plano para </a:t>
            </a:r>
            <a:pPr algn="l" indent="0" marL="0">
              <a:lnSpc>
                <a:spcPct val="79930"/>
              </a:lnSpc>
              <a:buNone/>
            </a:pPr>
            <a:r>
              <a:rPr lang="en-US" sz="6600" i="1" spc="-66" kern="0" dirty="0">
                <a:solidFill>
                  <a:srgbClr val="1D1D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2027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1143000" y="5510436"/>
            <a:ext cx="16002000" cy="19050"/>
          </a:xfrm>
          <a:prstGeom prst="rect">
            <a:avLst/>
          </a:prstGeom>
          <a:solidFill>
            <a:srgbClr val="4A453E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5872386"/>
            <a:ext cx="398145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82"/>
              </a:lnSpc>
              <a:buNone/>
            </a:pPr>
            <a:r>
              <a:rPr lang="en-US" sz="480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43000" y="6611466"/>
            <a:ext cx="3728085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3043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Aprovação ética da fase III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7304856"/>
            <a:ext cx="3728085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81"/>
              </a:lnSpc>
              <a:buNone/>
            </a:pPr>
            <a:r>
              <a:rPr lang="en-US" sz="1950" dirty="0">
                <a:solidFill>
                  <a:srgbClr val="4A453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Submissão do protocolo ampliado aos comitês dos três hospitais.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143500" y="5872386"/>
            <a:ext cx="398145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82"/>
              </a:lnSpc>
              <a:buNone/>
            </a:pPr>
            <a:r>
              <a:rPr lang="en-US" sz="480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143500" y="6611466"/>
            <a:ext cx="3728085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3043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Início do recrutamento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143500" y="7304856"/>
            <a:ext cx="3728085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81"/>
              </a:lnSpc>
              <a:buNone/>
            </a:pPr>
            <a:r>
              <a:rPr lang="en-US" sz="1950" dirty="0">
                <a:solidFill>
                  <a:srgbClr val="4A453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Meta de 600 participantes, com ênfase na coorte hospitalar.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144000" y="5872386"/>
            <a:ext cx="398145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82"/>
              </a:lnSpc>
              <a:buNone/>
            </a:pPr>
            <a:r>
              <a:rPr lang="en-US" sz="480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9144000" y="6611466"/>
            <a:ext cx="3728085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3043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Análise interina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0" y="7304856"/>
            <a:ext cx="3728085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81"/>
              </a:lnSpc>
              <a:buNone/>
            </a:pPr>
            <a:r>
              <a:rPr lang="en-US" sz="1950" dirty="0">
                <a:solidFill>
                  <a:srgbClr val="4A453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Revisão independente dos primeiros 300 registros.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144500" y="5872386"/>
            <a:ext cx="398145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82"/>
              </a:lnSpc>
              <a:buNone/>
            </a:pPr>
            <a:r>
              <a:rPr lang="en-US" sz="4800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T4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3144500" y="6611466"/>
            <a:ext cx="3728085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3043"/>
              </a:lnSpc>
              <a:buNone/>
            </a:pPr>
            <a:r>
              <a:rPr lang="en-US" sz="24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Relatório ao regulador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144500" y="7304856"/>
            <a:ext cx="3728085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81"/>
              </a:lnSpc>
              <a:buNone/>
            </a:pPr>
            <a:r>
              <a:rPr lang="en-US" sz="1950" dirty="0">
                <a:solidFill>
                  <a:srgbClr val="4A453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Documentação para o pedido de registro do dispositivo.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43000" y="9414570"/>
            <a:ext cx="427058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4A453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883211" y="8999339"/>
            <a:ext cx="33798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573473" y="9414570"/>
            <a:ext cx="264867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4A453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830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spc="-60" kern="0" dirty="0">
                <a:solidFill>
                  <a:srgbClr val="1D1D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Duas opções para a coorte hospitalar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143000" y="5238750"/>
            <a:ext cx="7810500" cy="3143250"/>
          </a:xfrm>
          <a:prstGeom prst="roundRect">
            <a:avLst>
              <a:gd name="adj" fmla="val 2424"/>
            </a:avLst>
          </a:prstGeom>
          <a:solidFill>
            <a:srgbClr val="00352F"/>
          </a:solidFill>
          <a:ln/>
        </p:spPr>
      </p:sp>
      <p:sp>
        <p:nvSpPr>
          <p:cNvPr id="4" name="Text 2"/>
          <p:cNvSpPr/>
          <p:nvPr/>
        </p:nvSpPr>
        <p:spPr>
          <a:xfrm>
            <a:off x="1676400" y="5772150"/>
            <a:ext cx="7418070" cy="550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16"/>
              </a:lnSpc>
              <a:buNone/>
            </a:pPr>
            <a:r>
              <a:rPr lang="en-US" sz="3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Opção A, recomendada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676400" y="6550893"/>
            <a:ext cx="6743700" cy="9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676400" y="6827118"/>
            <a:ext cx="6946011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64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Ampliar a coorte atual com um quarto hospital. Prazo de 9 meses, custo dentro do orçamento aprovado.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334500" y="5238750"/>
            <a:ext cx="7810500" cy="3143250"/>
          </a:xfrm>
          <a:prstGeom prst="roundRect">
            <a:avLst>
              <a:gd name="adj" fmla="val 2424"/>
            </a:avLst>
          </a:prstGeom>
          <a:solidFill>
            <a:srgbClr val="E8EDEB"/>
          </a:solidFill>
          <a:ln/>
        </p:spPr>
      </p:sp>
      <p:sp>
        <p:nvSpPr>
          <p:cNvPr id="8" name="Text 6"/>
          <p:cNvSpPr/>
          <p:nvPr/>
        </p:nvSpPr>
        <p:spPr>
          <a:xfrm>
            <a:off x="9867900" y="5772150"/>
            <a:ext cx="7418070" cy="550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16"/>
              </a:lnSpc>
              <a:buNone/>
            </a:pPr>
            <a:r>
              <a:rPr lang="en-US" sz="3600" i="1" dirty="0">
                <a:solidFill>
                  <a:srgbClr val="2E353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Opção B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867900" y="6550893"/>
            <a:ext cx="6743700" cy="9525"/>
          </a:xfrm>
          <a:prstGeom prst="rect">
            <a:avLst/>
          </a:prstGeom>
          <a:solidFill>
            <a:srgbClr val="2E3533"/>
          </a:solidFill>
          <a:ln/>
        </p:spPr>
      </p:sp>
      <p:sp>
        <p:nvSpPr>
          <p:cNvPr id="10" name="Text 8"/>
          <p:cNvSpPr/>
          <p:nvPr/>
        </p:nvSpPr>
        <p:spPr>
          <a:xfrm>
            <a:off x="9867900" y="6827118"/>
            <a:ext cx="6946011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64"/>
              </a:lnSpc>
              <a:buNone/>
            </a:pPr>
            <a:r>
              <a:rPr lang="en-US" sz="225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Estudo multicêntrico nacional. Prazo de 18 meses e necessidade de captação adicional.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43000" y="9414570"/>
            <a:ext cx="427058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889388" y="8999339"/>
            <a:ext cx="33181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573473" y="9414570"/>
            <a:ext cx="264867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3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0" y="2320751"/>
            <a:ext cx="14225588" cy="2982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26"/>
              </a:lnSpc>
              <a:buNone/>
            </a:pPr>
            <a:r>
              <a:rPr lang="en-US" sz="69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“Recomendamos avançar para a fase III mantendo o protocolo atual e ampliando a coorte hospitalar.”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1905000" y="5950893"/>
            <a:ext cx="1491234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Comitê científico independente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905000" y="6573813"/>
            <a:ext cx="1491234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E3EFE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Parecer de 26 de setembro de 2026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3000" y="9414570"/>
            <a:ext cx="427058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E3EFE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883881" y="8999339"/>
            <a:ext cx="33731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573473" y="9414570"/>
            <a:ext cx="264867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E3EFE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52500"/>
            <a:ext cx="16002000" cy="9525"/>
          </a:xfrm>
          <a:prstGeom prst="rect">
            <a:avLst/>
          </a:prstGeom>
          <a:solidFill>
            <a:srgbClr val="00352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243013"/>
            <a:ext cx="2457748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00352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Equipe responsável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707445" y="1152525"/>
            <a:ext cx="513755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42"/>
              </a:lnSpc>
              <a:buNone/>
            </a:pPr>
            <a:r>
              <a:rPr lang="en-US" sz="2700" i="1" dirty="0">
                <a:solidFill>
                  <a:srgbClr val="00352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viii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43000" y="3401392"/>
            <a:ext cx="3714750" cy="3810000"/>
          </a:xfrm>
          <a:prstGeom prst="roundRect">
            <a:avLst>
              <a:gd name="adj" fmla="val 2051"/>
            </a:avLst>
          </a:prstGeom>
          <a:solidFill>
            <a:srgbClr val="E8EDE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7382842"/>
            <a:ext cx="40862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193"/>
              </a:lnSpc>
              <a:buNone/>
            </a:pPr>
            <a:r>
              <a:rPr lang="en-US" sz="3300" spc="-33" kern="0" dirty="0">
                <a:solidFill>
                  <a:srgbClr val="1D1D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Ana Ribeiro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143000" y="7973392"/>
            <a:ext cx="3826193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526"/>
              </a:lnSpc>
              <a:buNone/>
            </a:pPr>
            <a:r>
              <a:rPr lang="en-US" sz="195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Diretora científica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238750" y="3401392"/>
            <a:ext cx="3714750" cy="3810000"/>
          </a:xfrm>
          <a:prstGeom prst="roundRect">
            <a:avLst>
              <a:gd name="adj" fmla="val 2051"/>
            </a:avLst>
          </a:prstGeom>
          <a:solidFill>
            <a:srgbClr val="E8EDEB"/>
          </a:solidFill>
          <a:ln/>
        </p:spPr>
      </p:sp>
      <p:sp>
        <p:nvSpPr>
          <p:cNvPr id="9" name="Text 7"/>
          <p:cNvSpPr/>
          <p:nvPr/>
        </p:nvSpPr>
        <p:spPr>
          <a:xfrm>
            <a:off x="5238750" y="7382842"/>
            <a:ext cx="40862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193"/>
              </a:lnSpc>
              <a:buNone/>
            </a:pPr>
            <a:r>
              <a:rPr lang="en-US" sz="3300" spc="-33" kern="0" dirty="0">
                <a:solidFill>
                  <a:srgbClr val="1D1D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Rafael Mendes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5238750" y="7973392"/>
            <a:ext cx="3826193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526"/>
              </a:lnSpc>
              <a:buNone/>
            </a:pPr>
            <a:r>
              <a:rPr lang="en-US" sz="195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Engenharia de sinais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334500" y="3401392"/>
            <a:ext cx="3714750" cy="3810000"/>
          </a:xfrm>
          <a:prstGeom prst="roundRect">
            <a:avLst>
              <a:gd name="adj" fmla="val 2051"/>
            </a:avLst>
          </a:prstGeom>
          <a:solidFill>
            <a:srgbClr val="E8EDEB"/>
          </a:solidFill>
          <a:ln/>
        </p:spPr>
      </p:sp>
      <p:sp>
        <p:nvSpPr>
          <p:cNvPr id="12" name="Text 10"/>
          <p:cNvSpPr/>
          <p:nvPr/>
        </p:nvSpPr>
        <p:spPr>
          <a:xfrm>
            <a:off x="9334500" y="7382842"/>
            <a:ext cx="40862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193"/>
              </a:lnSpc>
              <a:buNone/>
            </a:pPr>
            <a:r>
              <a:rPr lang="en-US" sz="3300" spc="-33" kern="0" dirty="0">
                <a:solidFill>
                  <a:srgbClr val="1D1D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Júlia Prado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9334500" y="7973392"/>
            <a:ext cx="3826193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526"/>
              </a:lnSpc>
              <a:buNone/>
            </a:pPr>
            <a:r>
              <a:rPr lang="en-US" sz="195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Pesquisa clínica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3430250" y="3401392"/>
            <a:ext cx="3714750" cy="3810000"/>
          </a:xfrm>
          <a:prstGeom prst="roundRect">
            <a:avLst>
              <a:gd name="adj" fmla="val 2051"/>
            </a:avLst>
          </a:prstGeom>
          <a:solidFill>
            <a:srgbClr val="E8EDEB"/>
          </a:solidFill>
          <a:ln/>
        </p:spPr>
      </p:sp>
      <p:sp>
        <p:nvSpPr>
          <p:cNvPr id="15" name="Text 13"/>
          <p:cNvSpPr/>
          <p:nvPr/>
        </p:nvSpPr>
        <p:spPr>
          <a:xfrm>
            <a:off x="13430250" y="7382842"/>
            <a:ext cx="40862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193"/>
              </a:lnSpc>
              <a:buNone/>
            </a:pPr>
            <a:r>
              <a:rPr lang="en-US" sz="3300" spc="-33" kern="0" dirty="0">
                <a:solidFill>
                  <a:srgbClr val="1D1D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Caio Ferreira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13430250" y="7973392"/>
            <a:ext cx="3826193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526"/>
              </a:lnSpc>
              <a:buNone/>
            </a:pPr>
            <a:r>
              <a:rPr lang="en-US" sz="195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Regulatório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43000" y="9414570"/>
            <a:ext cx="427058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Resultados da fase II, conselho consultivo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882988" y="8999339"/>
            <a:ext cx="33821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1D1D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573473" y="9414570"/>
            <a:ext cx="264867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308"/>
              </a:lnSpc>
              <a:buNone/>
            </a:pPr>
            <a:r>
              <a:rPr lang="en-US" sz="1800" dirty="0">
                <a:solidFill>
                  <a:srgbClr val="2E35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Proprietário e confidencial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3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797004"/>
            <a:ext cx="1760220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1250" spc="-112" kern="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Obrigada.</a:t>
            </a:r>
            <a:endParaRPr lang="en-US" sz="11250" dirty="0"/>
          </a:p>
        </p:txBody>
      </p:sp>
      <p:sp>
        <p:nvSpPr>
          <p:cNvPr id="3" name="Shape 1"/>
          <p:cNvSpPr/>
          <p:nvPr/>
        </p:nvSpPr>
        <p:spPr>
          <a:xfrm>
            <a:off x="1143000" y="7987754"/>
            <a:ext cx="16002000" cy="9525"/>
          </a:xfrm>
          <a:prstGeom prst="rect">
            <a:avLst/>
          </a:prstGeom>
          <a:solidFill>
            <a:srgbClr val="A9CCC4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8302079"/>
            <a:ext cx="3896401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E3EFE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ana.ribeiro@neurodynamics.dev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3000" y="8799240"/>
            <a:ext cx="3896401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75"/>
              </a:lnSpc>
              <a:buNone/>
            </a:pPr>
            <a:r>
              <a:rPr lang="en-US" sz="2100" dirty="0">
                <a:solidFill>
                  <a:srgbClr val="E3EFE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neurodynamics.dev</a:t>
            </a:r>
            <a:endParaRPr lang="en-US" sz="2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14914215" y="8858250"/>
            <a:ext cx="2230785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2026-10-06T13:24:21Z</dcterms:created>
  <dcterms:modified xsi:type="dcterms:W3CDTF">2026-10-06T13:24:21Z</dcterms:modified>
</cp:coreProperties>
</file>